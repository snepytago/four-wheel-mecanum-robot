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id="{f0293211-8138-f053-eae0-c7a72ffbb31e}">
          <p14:sldIdLst>
            <p14:sldId id="256"/>
          </p14:sldIdLst>
        </p14:section>
        <p14:section name="Phương pháp và hạ tầng" id="{ce77eb09-2bb7-615a-b99e-3acac5cf9370}">
          <p14:sldIdLst>
            <p14:sldId id="257"/>
            <p14:sldId id="258"/>
            <p14:sldId id="259"/>
            <p14:sldId id="260"/>
          </p14:sldIdLst>
        </p14:section>
        <p14:section name="So sánh ba bài chạy" id="{9c3b3654-0175-9829-507f-e27057cb012a}">
          <p14:sldIdLst>
            <p14:sldId id="261"/>
            <p14:sldId id="262"/>
            <p14:sldId id="263"/>
            <p14:sldId id="264"/>
            <p14:sldId id="265"/>
          </p14:sldIdLst>
        </p14:section>
        <p14:section name="Sửa lỗi và kết luận" id="{9a2b1a97-a97d-7788-c573-6d02805825b0}">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em trình bày quá trình làm ba bài chạy thẳng 3 m của robot mecanum: chỉ dùng encoder, thêm IMU giữ hướng, và cuối cùng là EKF kết hợp camera. Ba màu cam, xanh dương, xanh lá sẽ đi theo ba cách này trong suốt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21 008 xung = 3 m chia chu vi bánh 2π·34 mm nhân 1496 xung/vòng. Lưu ý: bài 1 và 2 dừng theo số xung, bài 3 dừng theo quãng đường EKF ước lượng, nên số xung lúc dừng của bài 3 không cố định. Bài 1, 2 được vẽ bằng tọa độ robot tự tính, bài 3 bằng camera đo từ ngoài; hai loại số này không cùng độ tin cậy.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cứng đo liên tục: timer đếm xung không sót, gyro tự cập nhật 8 kHz. Code đọc định kỳ 20 ms. Log in thưa hơn nữa, 100 ms một dòng, vì in qua UART mất 7 đến 10 ms mỗi dòng. Bài 1 và 2 ngừng in khi còn dưới 600 xung tới mốc để UART không làm trễ việc cắt động cơ.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dòng ENC gồm thời gian, duty, xung 4 bánh, odometry, góc IMU, gyro, hiệu chỉnh và với bài 3 thêm tọa độ camera và số khung mới. RMS lệch ngang là căn bậc hai của tích phân y bình phương theo x chia quãng đường, nên không phụ thuộc chấm dày hay thưa.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số Kalman K không chọn tay. Ta chỉ chọn Q (encoder và gyro sai bao nhiêu) và R (camera nhiễu bao nhiêu); K được EKF tính lại ở mỗi khung camera. Mỗi khung kéo vị trí dọc khoảng 14 %, ngang khoảng 24 % về phía camera; góc gần như do gyro quyết định, camera chỉ sửa chậm và qua đó học ra bias gyro.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lần chạy thuần encoder ngày 06/10, cả 4 bánh cùng duty 400, dừng khi 1 bánh đạt 21 008 xung. Hình trên là quỹ đạo, hình dưới trái là góc hướng theo quãng đường, hình dưới phải là lệch ngang cuối từng lần. Góc trôi đều về âm vì bánh RR yếu, độ trôi khác nhau giữa các lần nên không bù bằng hằng số được. Tọa độ là odometry của robot (encoder, góc IMU), chưa có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lần chạy ngày 07/10 với vòng giữ hướng theo gyro, chỉ khâu P, KP = 3. Góc hướng giữ ổn định quanh âm 2 đến âm 3 độ thay vì trôi tới âm 24 độ. Phần sai số tĩnh còn lại là do không có khâu I, nên xe vẫn lệch đều về một phía nhưng chỉ còn 40 đến 89 mm. Tọa độ vẫn là odometry của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 lần chạy EKF ngày 18/10, vị trí đo bằng camera trần nên là vị trí thật. Bảy lần bình thường đều nằm trong hành lang ±50 mm, lệch ngang cuối trung bình 8 mm. Lần 6 và 9 server camera bị treo nên vẽ nét đứt và không tính vào chỉ số. Điểm dừng đều nằm sau vạch 3000 mm, tức là xe vượt đích, phần sau giải thích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bài lấy lần chạy tốt nhất theo cùng một tiêu chí: tổng RMS lệch ngang cả đường và khoảng cách từ điểm dừng tới đích (3000; 0) nhỏ nhất. Thuần encoder lần 3 lệch 232 mm, IMU lần 2 lệch 40 mm, EKF lần 4 lệch 4 mm. Ngay cả lần tốt nhất, thuần encoder vẫn trôi ra khỏi hành lang từ khoảng 1,6 m; IMU giữ được trong hành lang nhưng lệch đều; EKF dao động quanh đường cơ sở và kết thúc gần đích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biệt giữa EKF và IMU có ý nghĩa thống kê ở lệch ngang cuối (p dưới 0,001) và RMS (p khoảng 0,01). Góc cuối và khoảng cách tới đích thì chưa khác. Khoảng cách tới đích của EKF bị kéo lên bởi việc vượt đích, slide tiếp theo sẽ nói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Đường xám là quãng đường theo encoder nhân 0,96, gần với quãng đường thật. Hai lần này bị loại khỏi bảng chỉ số nhưng vẫn giữ trong log. Bài học: cần biết khung camera cũ hay mới, phía PC nên gửi kèm số thứ tự khung.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0,47 m/s, trong 200 ms xe đi được khoảng 94 mm, đúng bằng phần EKF bị tụt. Sau khi sửa, 30 mm còn lại gần bằng quãng trôi sau khi cắt động cơ (16–20 mm) cộng sai số kiểm tra mỗi 20 ms. Lần 5 ngày 19/10 camera lại đóng băng nhưng xe vẫn dừng đúng theo EKF, không chạy mất kiểm soát như ngày 18/10.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là lệch ngang cuối trung bình của ba cách. Mỗi nguồn thông tin thêm vào giải quyết một loại sai số: IMU chặn xoay, camera chặn trôi vị trí. Đổi lại EKF phụ thuộc chất lượng camera, nên cần theo dõi tình trạng khung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(a) là quỹ đạo robot tự ước lượng, không phải vị trí thật; lần 2, 3 bị cắt tại lúc va chạm. Khi chạy ngang, hai cặp bánh chéo đẩy theo hai đường chéo; một cặp bám kém thì xe trôi theo đường chéo của cặp kia. Encoder và IMU đều không thấy loại sai số này, nên chỉ camera kéo về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1094415"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Tiêu đề</a:t>
            </a:r>
            <a:endParaRPr lang="en-US" sz="4800" dirty="0"/>
          </a:p>
        </p:txBody>
      </p:sp>
      <p:sp>
        <p:nvSpPr>
          <p:cNvPr id="3" name="Text 0"/>
          <p:cNvSpPr/>
          <p:nvPr>
            <p:ph idx="101" type="body" hasCustomPrompt="1"/>
          </p:nvPr>
        </p:nvSpPr>
        <p:spPr>
          <a:xfrm>
            <a:off x="548640" y="3429000"/>
            <a:ext cx="11094415" cy="5486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Phụ đề</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algn="l" indent="0" marL="0">
              <a:buNone/>
              <a:defRPr lang="en-US" sz="1200" b="1" spc="100" kern="0" dirty="0">
                <a:solidFill>
                  <a:schemeClr val="tx2"/>
                </a:solidFill>
              </a:defRPr>
            </a:lvl1pPr>
          </a:lstStyle>
          <a:p>
            <a:pPr algn="l" indent="0" marL="0">
              <a:buNone/>
            </a:pPr>
            <a:r>
              <a:rPr lang="en-US" sz="1200" b="1" spc="100" kern="0" dirty="0">
                <a:solidFill>
                  <a:schemeClr val="tx2"/>
                </a:solidFill>
              </a:rPr>
              <a:t>Nhãn</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Tiêu đề</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IMG">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algn="l" indent="0" marL="0">
              <a:buNone/>
              <a:defRPr lang="en-US" sz="1200" b="1" spc="100" kern="0" dirty="0">
                <a:solidFill>
                  <a:schemeClr val="tx2"/>
                </a:solidFill>
              </a:defRPr>
            </a:lvl1pPr>
          </a:lstStyle>
          <a:p>
            <a:pPr algn="l" indent="0" marL="0">
              <a:buNone/>
            </a:pPr>
            <a:r>
              <a:rPr lang="en-US" sz="1200" b="1" spc="100" kern="0" dirty="0">
                <a:solidFill>
                  <a:schemeClr val="tx2"/>
                </a:solidFill>
              </a:rPr>
              <a:t>Nhãn</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Tiêu đề</a:t>
            </a:r>
            <a:endParaRPr lang="en-US" sz="3000" dirty="0"/>
          </a:p>
        </p:txBody>
      </p:sp>
      <p:sp>
        <p:nvSpPr>
          <p:cNvPr id="4" name="Text 0"/>
          <p:cNvSpPr/>
          <p:nvPr>
            <p:ph idx="102" hasCustomPrompt="1"/>
          </p:nvPr>
        </p:nvSpPr>
        <p:spPr>
          <a:xfrm>
            <a:off x="548640" y="1463040"/>
            <a:ext cx="8092440" cy="4709160"/>
          </a:xfrm>
          <a:prstGeom prst="rect">
            <a:avLst/>
          </a:prstGeom>
          <a:noFill/>
          <a:ln/>
        </p:spPr>
        <p:txBody>
          <a:bodyPr wrap="square" rtlCol="0"/>
          <a:lstStyle>
            <a:lvl1pPr indent="0" marL="0">
              <a:buNone/>
              <a:defRPr lang="en-US" sz="1400" dirty="0">
                <a:solidFill>
                  <a:schemeClr val="tx2"/>
                </a:solidFill>
              </a:defRPr>
            </a:lvl1pPr>
          </a:lstStyle>
          <a:p>
            <a:pPr indent="0" marL="0">
              <a:buNone/>
            </a:pPr>
            <a:r>
              <a:rPr lang="en-US" sz="1400" dirty="0">
                <a:solidFill>
                  <a:schemeClr val="tx2"/>
                </a:solidFill>
              </a:rPr>
              <a:t>Bấm biểu tượng để chèn hình MATLAB</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4415" cy="23774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Thông điệp</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1094415" cy="1188720"/>
          </a:xfrm>
          <a:prstGeom prst="rect">
            <a:avLst/>
          </a:prstGeom>
          <a:noFill/>
          <a:ln/>
        </p:spPr>
        <p:txBody>
          <a:bodyPr wrap="square" lIns="0" tIns="0" rIns="0" bIns="0" rtlCol="0" anchor="b"/>
          <a:lstStyle/>
          <a:p>
            <a:pPr algn="l" indent="0" marL="0">
              <a:buNone/>
            </a:pPr>
            <a:r>
              <a:rPr lang="en-US" sz="4800" b="1" dirty="0">
                <a:solidFill>
                  <a:schemeClr val="bg1"/>
                </a:solidFill>
              </a:rPr>
              <a:t>Ba bài chạy thẳng 3 m</a:t>
            </a:r>
            <a:endParaRPr lang="en-US" sz="4800" dirty="0"/>
          </a:p>
        </p:txBody>
      </p:sp>
      <p:sp>
        <p:nvSpPr>
          <p:cNvPr id="3" name="Text 0"/>
          <p:cNvSpPr/>
          <p:nvPr>
            <p:ph idx="101" type="body" hasCustomPrompt="1"/>
          </p:nvPr>
        </p:nvSpPr>
        <p:spPr>
          <a:xfrm>
            <a:off x="548640" y="3429000"/>
            <a:ext cx="11094415" cy="548640"/>
          </a:xfrm>
          <a:prstGeom prst="rect">
            <a:avLst/>
          </a:prstGeom>
          <a:noFill/>
          <a:ln/>
        </p:spPr>
        <p:txBody>
          <a:bodyPr wrap="square" lIns="0" tIns="0" rIns="0" bIns="0" rtlCol="0" anchor="t"/>
          <a:lstStyle/>
          <a:p>
            <a:pPr algn="l" indent="0" marL="0">
              <a:buNone/>
            </a:pPr>
            <a:r>
              <a:rPr lang="en-US" sz="2200" dirty="0">
                <a:solidFill>
                  <a:schemeClr val="accent6"/>
                </a:solidFill>
              </a:rPr>
              <a:t>Thuần encoder · Encoder + IMU · EKF kết hợp camera</a:t>
            </a:r>
            <a:endParaRPr lang="en-US" sz="2200" dirty="0"/>
          </a:p>
        </p:txBody>
      </p:sp>
      <p:sp>
        <p:nvSpPr>
          <p:cNvPr id="4" name="Text 2"/>
          <p:cNvSpPr txBox="1"/>
          <p:nvPr/>
        </p:nvSpPr>
        <p:spPr>
          <a:xfrm>
            <a:off x="548640" y="548640"/>
            <a:ext cx="11094415" cy="320040"/>
          </a:xfrm>
          <a:prstGeom prst="rect">
            <a:avLst/>
          </a:prstGeom>
          <a:noFill/>
          <a:ln/>
        </p:spPr>
        <p:txBody>
          <a:bodyPr wrap="square" lIns="0" tIns="0" rIns="0" bIns="0" rtlCol="0" anchor="t"/>
          <a:lstStyle/>
          <a:p>
            <a:pPr indent="0" marL="0">
              <a:buNone/>
            </a:pPr>
            <a:r>
              <a:rPr lang="en-US" sz="1300" b="1" spc="200" kern="0" dirty="0">
                <a:solidFill>
                  <a:schemeClr val="accent5"/>
                </a:solidFill>
              </a:rPr>
              <a:t>KHÓA LUẬN · ROBOT MECANUM FWMR · STM32F401RE</a:t>
            </a:r>
            <a:endParaRPr lang="en-US" sz="1300" dirty="0"/>
          </a:p>
        </p:txBody>
      </p:sp>
      <p:sp>
        <p:nvSpPr>
          <p:cNvPr id="5" name="cham mau"/>
          <p:cNvSpPr/>
          <p:nvPr/>
        </p:nvSpPr>
        <p:spPr>
          <a:xfrm>
            <a:off x="548640" y="4434840"/>
            <a:ext cx="237744" cy="237744"/>
          </a:xfrm>
          <a:prstGeom prst="ellipse">
            <a:avLst/>
          </a:prstGeom>
          <a:solidFill>
            <a:srgbClr val="E07A45"/>
          </a:solidFill>
          <a:ln/>
        </p:spPr>
      </p:sp>
      <p:sp>
        <p:nvSpPr>
          <p:cNvPr id="6" name="Text 4"/>
          <p:cNvSpPr txBox="1"/>
          <p:nvPr/>
        </p:nvSpPr>
        <p:spPr>
          <a:xfrm>
            <a:off x="896112" y="4407408"/>
            <a:ext cx="1920240" cy="292608"/>
          </a:xfrm>
          <a:prstGeom prst="rect">
            <a:avLst/>
          </a:prstGeom>
          <a:noFill/>
          <a:ln/>
        </p:spPr>
        <p:txBody>
          <a:bodyPr wrap="square" lIns="0" tIns="0" rIns="0" bIns="0" rtlCol="0" anchor="ctr"/>
          <a:lstStyle/>
          <a:p>
            <a:pPr indent="0" marL="0">
              <a:buNone/>
            </a:pPr>
            <a:r>
              <a:rPr lang="en-US" sz="1500" dirty="0">
                <a:solidFill>
                  <a:schemeClr val="accent6"/>
                </a:solidFill>
              </a:rPr>
              <a:t>Thuần encoder</a:t>
            </a:r>
            <a:endParaRPr lang="en-US" sz="1500" dirty="0"/>
          </a:p>
        </p:txBody>
      </p:sp>
      <p:sp>
        <p:nvSpPr>
          <p:cNvPr id="7" name="cham mau"/>
          <p:cNvSpPr/>
          <p:nvPr/>
        </p:nvSpPr>
        <p:spPr>
          <a:xfrm>
            <a:off x="2926080" y="4434840"/>
            <a:ext cx="237744" cy="237744"/>
          </a:xfrm>
          <a:prstGeom prst="ellipse">
            <a:avLst/>
          </a:prstGeom>
          <a:solidFill>
            <a:srgbClr val="4D8FE0"/>
          </a:solidFill>
          <a:ln/>
        </p:spPr>
      </p:sp>
      <p:sp>
        <p:nvSpPr>
          <p:cNvPr id="8" name="Text 6"/>
          <p:cNvSpPr txBox="1"/>
          <p:nvPr/>
        </p:nvSpPr>
        <p:spPr>
          <a:xfrm>
            <a:off x="3273552" y="4407408"/>
            <a:ext cx="1920240" cy="292608"/>
          </a:xfrm>
          <a:prstGeom prst="rect">
            <a:avLst/>
          </a:prstGeom>
          <a:noFill/>
          <a:ln/>
        </p:spPr>
        <p:txBody>
          <a:bodyPr wrap="square" lIns="0" tIns="0" rIns="0" bIns="0" rtlCol="0" anchor="ctr"/>
          <a:lstStyle/>
          <a:p>
            <a:pPr indent="0" marL="0">
              <a:buNone/>
            </a:pPr>
            <a:r>
              <a:rPr lang="en-US" sz="1500" dirty="0">
                <a:solidFill>
                  <a:schemeClr val="accent6"/>
                </a:solidFill>
              </a:rPr>
              <a:t>Encoder + IMU</a:t>
            </a:r>
            <a:endParaRPr lang="en-US" sz="1500" dirty="0"/>
          </a:p>
        </p:txBody>
      </p:sp>
      <p:sp>
        <p:nvSpPr>
          <p:cNvPr id="9" name="cham mau"/>
          <p:cNvSpPr/>
          <p:nvPr/>
        </p:nvSpPr>
        <p:spPr>
          <a:xfrm>
            <a:off x="5303520" y="4434840"/>
            <a:ext cx="237744" cy="237744"/>
          </a:xfrm>
          <a:prstGeom prst="ellipse">
            <a:avLst/>
          </a:prstGeom>
          <a:solidFill>
            <a:srgbClr val="2FB873"/>
          </a:solidFill>
          <a:ln/>
        </p:spPr>
      </p:sp>
      <p:sp>
        <p:nvSpPr>
          <p:cNvPr id="10" name="Text 8"/>
          <p:cNvSpPr txBox="1"/>
          <p:nvPr/>
        </p:nvSpPr>
        <p:spPr>
          <a:xfrm>
            <a:off x="5650992" y="4407408"/>
            <a:ext cx="1920240" cy="292608"/>
          </a:xfrm>
          <a:prstGeom prst="rect">
            <a:avLst/>
          </a:prstGeom>
          <a:noFill/>
          <a:ln/>
        </p:spPr>
        <p:txBody>
          <a:bodyPr wrap="square" lIns="0" tIns="0" rIns="0" bIns="0" rtlCol="0" anchor="ctr"/>
          <a:lstStyle/>
          <a:p>
            <a:pPr indent="0" marL="0">
              <a:buNone/>
            </a:pPr>
            <a:r>
              <a:rPr lang="en-US" sz="1500" dirty="0">
                <a:solidFill>
                  <a:schemeClr val="accent6"/>
                </a:solidFill>
              </a:rPr>
              <a:t>EKF + camera</a:t>
            </a:r>
            <a:endParaRPr lang="en-US" sz="1500" dirty="0"/>
          </a:p>
        </p:txBody>
      </p:sp>
      <p:sp>
        <p:nvSpPr>
          <p:cNvPr id="11" name="Text 9"/>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400" dirty="0">
                <a:solidFill>
                  <a:schemeClr val="accent5"/>
                </a:solidFill>
              </a:rPr>
              <a:t>Quang Minh · Quá trình làm việc 06–19/10/2026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PHƯƠNG PHÁP</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Một nhiệm vụ, ba cách biết vị trí</a:t>
            </a:r>
            <a:endParaRPr lang="en-US" sz="3000" dirty="0"/>
          </a:p>
        </p:txBody>
      </p:sp>
      <p:sp>
        <p:nvSpPr>
          <p:cNvPr id="4" name="Text 2"/>
          <p:cNvSpPr txBox="1"/>
          <p:nvPr/>
        </p:nvSpPr>
        <p:spPr>
          <a:xfrm>
            <a:off x="548640" y="1463040"/>
            <a:ext cx="11094415" cy="822960"/>
          </a:xfrm>
          <a:prstGeom prst="rect">
            <a:avLst/>
          </a:prstGeom>
          <a:noFill/>
          <a:ln/>
        </p:spPr>
        <p:txBody>
          <a:bodyPr wrap="square" lIns="0" tIns="0" rIns="0" bIns="0" rtlCol="0" anchor="t"/>
          <a:lstStyle/>
          <a:p>
            <a:pPr indent="0" marL="0">
              <a:buNone/>
            </a:pPr>
            <a:r>
              <a:rPr lang="en-US" sz="1600" dirty="0">
                <a:solidFill>
                  <a:schemeClr val="tx2"/>
                </a:solidFill>
              </a:rPr>
              <a:t>Cả ba bài: xe chạy thẳng 3 m từ chỗ đặt xe, 4 bánh nhận </a:t>
            </a:r>
            <a:pPr indent="0" marL="0">
              <a:buNone/>
            </a:pPr>
            <a:r>
              <a:rPr lang="en-US" sz="1600" b="1" dirty="0">
                <a:solidFill>
                  <a:schemeClr val="tx2"/>
                </a:solidFill>
              </a:rPr>
              <a:t>cùng duty 400</a:t>
            </a:r>
            <a:pPr indent="0" marL="0">
              <a:buNone/>
            </a:pPr>
            <a:r>
              <a:rPr lang="en-US" sz="1600" dirty="0">
                <a:solidFill>
                  <a:schemeClr val="tx2"/>
                </a:solidFill>
              </a:rPr>
              <a:t> (tăng dần từ 130 trong 300 ms), không có vòng tốc độ riêng từng bánh. Khác nhau ở chỗ robot dùng thông tin gì để sửa hướng và quyết định khi nào dừng.</a:t>
            </a:r>
            <a:endParaRPr lang="en-US" sz="1600" dirty="0"/>
          </a:p>
        </p:txBody>
      </p:sp>
      <p:sp>
        <p:nvSpPr>
          <p:cNvPr id="5" name="the bai 1"/>
          <p:cNvSpPr/>
          <p:nvPr/>
        </p:nvSpPr>
        <p:spPr>
          <a:xfrm>
            <a:off x="548640" y="2514600"/>
            <a:ext cx="3484778" cy="3657600"/>
          </a:xfrm>
          <a:prstGeom prst="roundRect">
            <a:avLst>
              <a:gd name="adj" fmla="val 2624"/>
            </a:avLst>
          </a:prstGeom>
          <a:solidFill>
            <a:schemeClr val="bg2"/>
          </a:solidFill>
          <a:ln/>
        </p:spPr>
      </p:sp>
      <p:sp>
        <p:nvSpPr>
          <p:cNvPr id="6" name="cham mau"/>
          <p:cNvSpPr/>
          <p:nvPr/>
        </p:nvSpPr>
        <p:spPr>
          <a:xfrm>
            <a:off x="868680" y="2834640"/>
            <a:ext cx="502920" cy="502920"/>
          </a:xfrm>
          <a:prstGeom prst="ellipse">
            <a:avLst/>
          </a:prstGeom>
          <a:solidFill>
            <a:schemeClr val="accent1"/>
          </a:solidFill>
          <a:ln/>
        </p:spPr>
      </p:sp>
      <p:sp>
        <p:nvSpPr>
          <p:cNvPr id="7" name="Text 5"/>
          <p:cNvSpPr txBox="1"/>
          <p:nvPr/>
        </p:nvSpPr>
        <p:spPr>
          <a:xfrm>
            <a:off x="868680"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508760" y="2834640"/>
            <a:ext cx="2296058" cy="292608"/>
          </a:xfrm>
          <a:prstGeom prst="rect">
            <a:avLst/>
          </a:prstGeom>
          <a:noFill/>
          <a:ln/>
        </p:spPr>
        <p:txBody>
          <a:bodyPr wrap="square" lIns="0" tIns="0" rIns="0" bIns="0" rtlCol="0" anchor="t"/>
          <a:lstStyle/>
          <a:p>
            <a:pPr indent="0" marL="0">
              <a:buNone/>
            </a:pPr>
            <a:r>
              <a:rPr lang="en-US" sz="1800" b="1" dirty="0">
                <a:solidFill>
                  <a:schemeClr val="tx1"/>
                </a:solidFill>
              </a:rPr>
              <a:t>Thuần encoder</a:t>
            </a:r>
            <a:endParaRPr lang="en-US" sz="1800" dirty="0"/>
          </a:p>
        </p:txBody>
      </p:sp>
      <p:sp>
        <p:nvSpPr>
          <p:cNvPr id="9" name="Text 7"/>
          <p:cNvSpPr txBox="1"/>
          <p:nvPr/>
        </p:nvSpPr>
        <p:spPr>
          <a:xfrm>
            <a:off x="1508760" y="3136392"/>
            <a:ext cx="2296058" cy="256032"/>
          </a:xfrm>
          <a:prstGeom prst="rect">
            <a:avLst/>
          </a:prstGeom>
          <a:noFill/>
          <a:ln/>
        </p:spPr>
        <p:txBody>
          <a:bodyPr wrap="square" lIns="0" tIns="0" rIns="0" bIns="0" rtlCol="0" anchor="t"/>
          <a:lstStyle/>
          <a:p>
            <a:pPr indent="0" marL="0">
              <a:buNone/>
            </a:pPr>
            <a:r>
              <a:rPr lang="en-US" sz="1200" dirty="0">
                <a:solidFill>
                  <a:schemeClr val="tx2"/>
                </a:solidFill>
              </a:rPr>
              <a:t>06/10 · 8 lần</a:t>
            </a:r>
            <a:endParaRPr lang="en-US" sz="1200" dirty="0"/>
          </a:p>
        </p:txBody>
      </p:sp>
      <p:sp>
        <p:nvSpPr>
          <p:cNvPr id="10" name="Text 8"/>
          <p:cNvSpPr txBox="1"/>
          <p:nvPr/>
        </p:nvSpPr>
        <p:spPr>
          <a:xfrm>
            <a:off x="868680" y="3703320"/>
            <a:ext cx="2844698" cy="2194560"/>
          </a:xfrm>
          <a:prstGeom prst="rect">
            <a:avLst/>
          </a:prstGeom>
          <a:noFill/>
          <a:ln/>
        </p:spPr>
        <p:txBody>
          <a:bodyPr wrap="square" lIns="0" tIns="0" rIns="0" bIns="0" rtlCol="0" anchor="t"/>
          <a:lstStyle/>
          <a:p>
            <a:pPr indent="0" marL="0">
              <a:spcAft>
                <a:spcPts val="1000"/>
              </a:spcAft>
              <a:buNone/>
            </a:pPr>
            <a:r>
              <a:rPr lang="en-US" sz="1500" b="1" dirty="0">
                <a:solidFill>
                  <a:schemeClr val="tx1"/>
                </a:solidFill>
              </a:rPr>
              <a:t>Sửa hướng: </a:t>
            </a:r>
            <a:pPr indent="0" marL="0">
              <a:spcAft>
                <a:spcPts val="1000"/>
              </a:spcAft>
              <a:buNone/>
            </a:pPr>
            <a:r>
              <a:rPr lang="en-US" sz="1500" dirty="0">
                <a:solidFill>
                  <a:schemeClr val="tx1"/>
                </a:solidFill>
              </a:rPr>
              <a:t>không</a:t>
            </a:r>
            <a:endParaRPr lang="en-US" sz="1500" dirty="0"/>
          </a:p>
          <a:p>
            <a:pPr indent="0" marL="0">
              <a:spcAft>
                <a:spcPts val="1000"/>
              </a:spcAft>
              <a:buNone/>
            </a:pPr>
            <a:r>
              <a:rPr lang="en-US" sz="1500" b="1" dirty="0">
                <a:solidFill>
                  <a:schemeClr val="tx1"/>
                </a:solidFill>
              </a:rPr>
              <a:t>Dừng: </a:t>
            </a:r>
            <a:pPr indent="0" marL="0">
              <a:spcAft>
                <a:spcPts val="1000"/>
              </a:spcAft>
              <a:buNone/>
            </a:pPr>
            <a:r>
              <a:rPr lang="en-US" sz="1500" dirty="0">
                <a:solidFill>
                  <a:schemeClr val="tx1"/>
                </a:solidFill>
              </a:rPr>
              <a:t>1 bánh bất kỳ đạt 21 008 xung</a:t>
            </a:r>
            <a:endParaRPr lang="en-US" sz="1500" dirty="0"/>
          </a:p>
          <a:p>
            <a:pPr indent="0" marL="0">
              <a:spcAft>
                <a:spcPts val="1000"/>
              </a:spcAft>
              <a:buNone/>
            </a:pPr>
            <a:r>
              <a:rPr lang="en-US" sz="1500" b="1" dirty="0">
                <a:solidFill>
                  <a:schemeClr val="tx1"/>
                </a:solidFill>
              </a:rPr>
              <a:t>Vẽ bằng: </a:t>
            </a:r>
            <a:pPr indent="0" marL="0">
              <a:spcAft>
                <a:spcPts val="1000"/>
              </a:spcAft>
              <a:buNone/>
            </a:pPr>
            <a:r>
              <a:rPr lang="en-US" sz="1500" dirty="0">
                <a:solidFill>
                  <a:schemeClr val="tx1"/>
                </a:solidFill>
              </a:rPr>
              <a:t>odometry của robot</a:t>
            </a:r>
            <a:endParaRPr lang="en-US" sz="1500" dirty="0"/>
          </a:p>
        </p:txBody>
      </p:sp>
      <p:sp>
        <p:nvSpPr>
          <p:cNvPr id="11" name="the bai 2"/>
          <p:cNvSpPr/>
          <p:nvPr/>
        </p:nvSpPr>
        <p:spPr>
          <a:xfrm>
            <a:off x="4353458" y="2514600"/>
            <a:ext cx="3484778" cy="3657600"/>
          </a:xfrm>
          <a:prstGeom prst="roundRect">
            <a:avLst>
              <a:gd name="adj" fmla="val 2624"/>
            </a:avLst>
          </a:prstGeom>
          <a:solidFill>
            <a:schemeClr val="bg2"/>
          </a:solidFill>
          <a:ln/>
        </p:spPr>
      </p:sp>
      <p:sp>
        <p:nvSpPr>
          <p:cNvPr id="12" name="cham mau"/>
          <p:cNvSpPr/>
          <p:nvPr/>
        </p:nvSpPr>
        <p:spPr>
          <a:xfrm>
            <a:off x="4673498" y="2834640"/>
            <a:ext cx="502920" cy="502920"/>
          </a:xfrm>
          <a:prstGeom prst="ellipse">
            <a:avLst/>
          </a:prstGeom>
          <a:solidFill>
            <a:schemeClr val="accent2"/>
          </a:solidFill>
          <a:ln/>
        </p:spPr>
      </p:sp>
      <p:sp>
        <p:nvSpPr>
          <p:cNvPr id="13" name="Text 11"/>
          <p:cNvSpPr txBox="1"/>
          <p:nvPr/>
        </p:nvSpPr>
        <p:spPr>
          <a:xfrm>
            <a:off x="4673498"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5313578" y="2834640"/>
            <a:ext cx="2296058" cy="292608"/>
          </a:xfrm>
          <a:prstGeom prst="rect">
            <a:avLst/>
          </a:prstGeom>
          <a:noFill/>
          <a:ln/>
        </p:spPr>
        <p:txBody>
          <a:bodyPr wrap="square" lIns="0" tIns="0" rIns="0" bIns="0" rtlCol="0" anchor="t"/>
          <a:lstStyle/>
          <a:p>
            <a:pPr indent="0" marL="0">
              <a:buNone/>
            </a:pPr>
            <a:r>
              <a:rPr lang="en-US" sz="1800" b="1" dirty="0">
                <a:solidFill>
                  <a:schemeClr val="tx1"/>
                </a:solidFill>
              </a:rPr>
              <a:t>Encoder + IMU</a:t>
            </a:r>
            <a:endParaRPr lang="en-US" sz="1800" dirty="0"/>
          </a:p>
        </p:txBody>
      </p:sp>
      <p:sp>
        <p:nvSpPr>
          <p:cNvPr id="15" name="Text 13"/>
          <p:cNvSpPr txBox="1"/>
          <p:nvPr/>
        </p:nvSpPr>
        <p:spPr>
          <a:xfrm>
            <a:off x="5313578" y="3136392"/>
            <a:ext cx="2296058" cy="256032"/>
          </a:xfrm>
          <a:prstGeom prst="rect">
            <a:avLst/>
          </a:prstGeom>
          <a:noFill/>
          <a:ln/>
        </p:spPr>
        <p:txBody>
          <a:bodyPr wrap="square" lIns="0" tIns="0" rIns="0" bIns="0" rtlCol="0" anchor="t"/>
          <a:lstStyle/>
          <a:p>
            <a:pPr indent="0" marL="0">
              <a:buNone/>
            </a:pPr>
            <a:r>
              <a:rPr lang="en-US" sz="1200" dirty="0">
                <a:solidFill>
                  <a:schemeClr val="tx2"/>
                </a:solidFill>
              </a:rPr>
              <a:t>07/10 · 8 lần</a:t>
            </a:r>
            <a:endParaRPr lang="en-US" sz="1200" dirty="0"/>
          </a:p>
        </p:txBody>
      </p:sp>
      <p:sp>
        <p:nvSpPr>
          <p:cNvPr id="16" name="Text 14"/>
          <p:cNvSpPr txBox="1"/>
          <p:nvPr/>
        </p:nvSpPr>
        <p:spPr>
          <a:xfrm>
            <a:off x="4673498" y="3703320"/>
            <a:ext cx="2844698" cy="2194560"/>
          </a:xfrm>
          <a:prstGeom prst="rect">
            <a:avLst/>
          </a:prstGeom>
          <a:noFill/>
          <a:ln/>
        </p:spPr>
        <p:txBody>
          <a:bodyPr wrap="square" lIns="0" tIns="0" rIns="0" bIns="0" rtlCol="0" anchor="t"/>
          <a:lstStyle/>
          <a:p>
            <a:pPr indent="0" marL="0">
              <a:spcAft>
                <a:spcPts val="1000"/>
              </a:spcAft>
              <a:buNone/>
            </a:pPr>
            <a:r>
              <a:rPr lang="en-US" sz="1500" b="1" dirty="0">
                <a:solidFill>
                  <a:schemeClr val="tx1"/>
                </a:solidFill>
              </a:rPr>
              <a:t>Sửa hướng: </a:t>
            </a:r>
            <a:pPr indent="0" marL="0">
              <a:spcAft>
                <a:spcPts val="1000"/>
              </a:spcAft>
              <a:buNone/>
            </a:pPr>
            <a:r>
              <a:rPr lang="en-US" sz="1500" dirty="0">
                <a:solidFill>
                  <a:schemeClr val="tx1"/>
                </a:solidFill>
              </a:rPr>
              <a:t>theo gyro, KP = 3</a:t>
            </a:r>
            <a:endParaRPr lang="en-US" sz="1500" dirty="0"/>
          </a:p>
          <a:p>
            <a:pPr indent="0" marL="0">
              <a:spcAft>
                <a:spcPts val="1000"/>
              </a:spcAft>
              <a:buNone/>
            </a:pPr>
            <a:r>
              <a:rPr lang="en-US" sz="1500" b="1" dirty="0">
                <a:solidFill>
                  <a:schemeClr val="tx1"/>
                </a:solidFill>
              </a:rPr>
              <a:t>Dừng: </a:t>
            </a:r>
            <a:pPr indent="0" marL="0">
              <a:spcAft>
                <a:spcPts val="1000"/>
              </a:spcAft>
              <a:buNone/>
            </a:pPr>
            <a:r>
              <a:rPr lang="en-US" sz="1500" dirty="0">
                <a:solidFill>
                  <a:schemeClr val="tx1"/>
                </a:solidFill>
              </a:rPr>
              <a:t>1 bánh bất kỳ đạt 21 008 xung</a:t>
            </a:r>
            <a:endParaRPr lang="en-US" sz="1500" dirty="0"/>
          </a:p>
          <a:p>
            <a:pPr indent="0" marL="0">
              <a:spcAft>
                <a:spcPts val="1000"/>
              </a:spcAft>
              <a:buNone/>
            </a:pPr>
            <a:r>
              <a:rPr lang="en-US" sz="1500" b="1" dirty="0">
                <a:solidFill>
                  <a:schemeClr val="tx1"/>
                </a:solidFill>
              </a:rPr>
              <a:t>Vẽ bằng: </a:t>
            </a:r>
            <a:pPr indent="0" marL="0">
              <a:spcAft>
                <a:spcPts val="1000"/>
              </a:spcAft>
              <a:buNone/>
            </a:pPr>
            <a:r>
              <a:rPr lang="en-US" sz="1500" dirty="0">
                <a:solidFill>
                  <a:schemeClr val="tx1"/>
                </a:solidFill>
              </a:rPr>
              <a:t>odometry + góc IMU</a:t>
            </a:r>
            <a:endParaRPr lang="en-US" sz="1500" dirty="0"/>
          </a:p>
        </p:txBody>
      </p:sp>
      <p:sp>
        <p:nvSpPr>
          <p:cNvPr id="17" name="the bai 3"/>
          <p:cNvSpPr/>
          <p:nvPr/>
        </p:nvSpPr>
        <p:spPr>
          <a:xfrm>
            <a:off x="8158277" y="2514600"/>
            <a:ext cx="3484778" cy="3657600"/>
          </a:xfrm>
          <a:prstGeom prst="roundRect">
            <a:avLst>
              <a:gd name="adj" fmla="val 2624"/>
            </a:avLst>
          </a:prstGeom>
          <a:solidFill>
            <a:schemeClr val="bg2"/>
          </a:solidFill>
          <a:ln/>
        </p:spPr>
      </p:sp>
      <p:sp>
        <p:nvSpPr>
          <p:cNvPr id="18" name="cham mau"/>
          <p:cNvSpPr/>
          <p:nvPr/>
        </p:nvSpPr>
        <p:spPr>
          <a:xfrm>
            <a:off x="8478317" y="2834640"/>
            <a:ext cx="502920" cy="502920"/>
          </a:xfrm>
          <a:prstGeom prst="ellipse">
            <a:avLst/>
          </a:prstGeom>
          <a:solidFill>
            <a:schemeClr val="accent3"/>
          </a:solidFill>
          <a:ln/>
        </p:spPr>
      </p:sp>
      <p:sp>
        <p:nvSpPr>
          <p:cNvPr id="19" name="Text 17"/>
          <p:cNvSpPr txBox="1"/>
          <p:nvPr/>
        </p:nvSpPr>
        <p:spPr>
          <a:xfrm>
            <a:off x="8478317"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8"/>
          <p:cNvSpPr txBox="1"/>
          <p:nvPr/>
        </p:nvSpPr>
        <p:spPr>
          <a:xfrm>
            <a:off x="9118397" y="2834640"/>
            <a:ext cx="2296058" cy="292608"/>
          </a:xfrm>
          <a:prstGeom prst="rect">
            <a:avLst/>
          </a:prstGeom>
          <a:noFill/>
          <a:ln/>
        </p:spPr>
        <p:txBody>
          <a:bodyPr wrap="square" lIns="0" tIns="0" rIns="0" bIns="0" rtlCol="0" anchor="t"/>
          <a:lstStyle/>
          <a:p>
            <a:pPr indent="0" marL="0">
              <a:buNone/>
            </a:pPr>
            <a:r>
              <a:rPr lang="en-US" sz="1800" b="1" dirty="0">
                <a:solidFill>
                  <a:schemeClr val="tx1"/>
                </a:solidFill>
              </a:rPr>
              <a:t>EKF + camera</a:t>
            </a:r>
            <a:endParaRPr lang="en-US" sz="1800" dirty="0"/>
          </a:p>
        </p:txBody>
      </p:sp>
      <p:sp>
        <p:nvSpPr>
          <p:cNvPr id="21" name="Text 19"/>
          <p:cNvSpPr txBox="1"/>
          <p:nvPr/>
        </p:nvSpPr>
        <p:spPr>
          <a:xfrm>
            <a:off x="9118397" y="3136392"/>
            <a:ext cx="2296058" cy="256032"/>
          </a:xfrm>
          <a:prstGeom prst="rect">
            <a:avLst/>
          </a:prstGeom>
          <a:noFill/>
          <a:ln/>
        </p:spPr>
        <p:txBody>
          <a:bodyPr wrap="square" lIns="0" tIns="0" rIns="0" bIns="0" rtlCol="0" anchor="t"/>
          <a:lstStyle/>
          <a:p>
            <a:pPr indent="0" marL="0">
              <a:buNone/>
            </a:pPr>
            <a:r>
              <a:rPr lang="en-US" sz="1200" dirty="0">
                <a:solidFill>
                  <a:schemeClr val="tx2"/>
                </a:solidFill>
              </a:rPr>
              <a:t>18/10 · 9 lần</a:t>
            </a:r>
            <a:endParaRPr lang="en-US" sz="1200" dirty="0"/>
          </a:p>
        </p:txBody>
      </p:sp>
      <p:sp>
        <p:nvSpPr>
          <p:cNvPr id="22" name="Text 20"/>
          <p:cNvSpPr txBox="1"/>
          <p:nvPr/>
        </p:nvSpPr>
        <p:spPr>
          <a:xfrm>
            <a:off x="8478317" y="3703320"/>
            <a:ext cx="2844698" cy="2194560"/>
          </a:xfrm>
          <a:prstGeom prst="rect">
            <a:avLst/>
          </a:prstGeom>
          <a:noFill/>
          <a:ln/>
        </p:spPr>
        <p:txBody>
          <a:bodyPr wrap="square" lIns="0" tIns="0" rIns="0" bIns="0" rtlCol="0" anchor="t"/>
          <a:lstStyle/>
          <a:p>
            <a:pPr indent="0" marL="0">
              <a:spcAft>
                <a:spcPts val="1000"/>
              </a:spcAft>
              <a:buNone/>
            </a:pPr>
            <a:r>
              <a:rPr lang="en-US" sz="1500" b="1" dirty="0">
                <a:solidFill>
                  <a:schemeClr val="tx1"/>
                </a:solidFill>
              </a:rPr>
              <a:t>Sửa hướng: </a:t>
            </a:r>
            <a:pPr indent="0" marL="0">
              <a:spcAft>
                <a:spcPts val="1000"/>
              </a:spcAft>
              <a:buNone/>
            </a:pPr>
            <a:r>
              <a:rPr lang="en-US" sz="1500" dirty="0">
                <a:solidFill>
                  <a:schemeClr val="tx1"/>
                </a:solidFill>
              </a:rPr>
              <a:t>theo góc EKF, kéo ngang về đường thẳng</a:t>
            </a:r>
            <a:endParaRPr lang="en-US" sz="1500" dirty="0"/>
          </a:p>
          <a:p>
            <a:pPr indent="0" marL="0">
              <a:spcAft>
                <a:spcPts val="1000"/>
              </a:spcAft>
              <a:buNone/>
            </a:pPr>
            <a:r>
              <a:rPr lang="en-US" sz="1500" b="1" dirty="0">
                <a:solidFill>
                  <a:schemeClr val="tx1"/>
                </a:solidFill>
              </a:rPr>
              <a:t>Dừng: </a:t>
            </a:r>
            <a:pPr indent="0" marL="0">
              <a:spcAft>
                <a:spcPts val="1000"/>
              </a:spcAft>
              <a:buNone/>
            </a:pPr>
            <a:r>
              <a:rPr lang="en-US" sz="1500" dirty="0">
                <a:solidFill>
                  <a:schemeClr val="tx1"/>
                </a:solidFill>
              </a:rPr>
              <a:t>quãng đường EKF ≥ 3000 mm</a:t>
            </a:r>
            <a:endParaRPr lang="en-US" sz="1500" dirty="0"/>
          </a:p>
          <a:p>
            <a:pPr indent="0" marL="0">
              <a:spcAft>
                <a:spcPts val="1000"/>
              </a:spcAft>
              <a:buNone/>
            </a:pPr>
            <a:r>
              <a:rPr lang="en-US" sz="1500" b="1" dirty="0">
                <a:solidFill>
                  <a:schemeClr val="tx1"/>
                </a:solidFill>
              </a:rPr>
              <a:t>Vẽ bằng: </a:t>
            </a:r>
            <a:pPr indent="0" marL="0">
              <a:spcAft>
                <a:spcPts val="1000"/>
              </a:spcAft>
              <a:buNone/>
            </a:pPr>
            <a:r>
              <a:rPr lang="en-US" sz="1500" dirty="0">
                <a:solidFill>
                  <a:schemeClr val="tx1"/>
                </a:solidFill>
              </a:rPr>
              <a:t>camera trần (vị trí thật)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HẠ TẦNG</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Hạ tầng phần cứng và nhịp lấy mẫu</a:t>
            </a:r>
            <a:endParaRPr lang="en-US" sz="3000" dirty="0"/>
          </a:p>
        </p:txBody>
      </p:sp>
      <p:graphicFrame>
        <p:nvGraphicFramePr>
          <p:cNvPr id="4" name="bang ha tang"/>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94560"/>
                <a:gridCol w="4937760"/>
                <a:gridCol w="3962095"/>
              </a:tblGrid>
              <a:tr h="438912">
                <a:tc>
                  <a:txBody>
                    <a:bodyPr/>
                    <a:lstStyle/>
                    <a:p>
                      <a:pPr indent="0" marL="0">
                        <a:buNone/>
                      </a:pPr>
                      <a:r>
                        <a:rPr lang="en-US" sz="1400" b="1" dirty="0">
                          <a:solidFill>
                            <a:schemeClr val="bg1"/>
                          </a:solidFill>
                          <a:latin typeface="Arial" pitchFamily="34" charset="0"/>
                          <a:ea typeface="Arial" pitchFamily="34" charset="-122"/>
                          <a:cs typeface="Arial" pitchFamily="34" charset="-120"/>
                        </a:rPr>
                        <a:t>Nguồn</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Phần cứng</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Code đọc khi nào</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Vòng điều khiển</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SysTick 1 ms, CPU 16 MHz</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mỗi 20 ms (50 Hz)</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Encoder ×4</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Timer đếm cạnh A/B ×4, 1496 xung/vòng, 0,143 mm/xung</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20 ms; bài 1, 2 kiểm tra mốc ở mọi vòng lặp</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Gyro MPU6050</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I2C, ±250 °/s, bộ lọc thông thấp tắt</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1 mẫu mỗi 20 ms</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Camera ArUco</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PC → ESP-NOW → UART, ~13 khung/s, trễ ~220 ms</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khung mới vào EKF ngay</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Log</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UART 115200 → esp32R → ESP-NOW → laptop</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1 dòng ENC mỗi 100 ms (10 Hz)</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bl>
          </a:graphicData>
        </a:graphic>
      </p:graphicFrame>
      <p:sp>
        <p:nvSpPr>
          <p:cNvPr id="5" name="nhan xet nhip"/>
          <p:cNvSpPr/>
          <p:nvPr/>
        </p:nvSpPr>
        <p:spPr>
          <a:xfrm>
            <a:off x="548640" y="4572000"/>
            <a:ext cx="11094415" cy="1325880"/>
          </a:xfrm>
          <a:prstGeom prst="roundRect">
            <a:avLst>
              <a:gd name="adj" fmla="val 6897"/>
            </a:avLst>
          </a:prstGeom>
          <a:solidFill>
            <a:schemeClr val="bg2"/>
          </a:solidFill>
          <a:ln/>
        </p:spPr>
      </p:sp>
      <p:sp>
        <p:nvSpPr>
          <p:cNvPr id="6" name="Text 3"/>
          <p:cNvSpPr txBox="1"/>
          <p:nvPr/>
        </p:nvSpPr>
        <p:spPr>
          <a:xfrm>
            <a:off x="868680" y="4754880"/>
            <a:ext cx="2926080" cy="548640"/>
          </a:xfrm>
          <a:prstGeom prst="rect">
            <a:avLst/>
          </a:prstGeom>
          <a:noFill/>
          <a:ln/>
        </p:spPr>
        <p:txBody>
          <a:bodyPr wrap="square" lIns="0" tIns="0" rIns="0" bIns="0" rtlCol="0" anchor="t"/>
          <a:lstStyle/>
          <a:p>
            <a:pPr indent="0" marL="0">
              <a:buNone/>
            </a:pPr>
            <a:r>
              <a:rPr lang="en-US" sz="3000" b="1" dirty="0">
                <a:solidFill>
                  <a:schemeClr val="accent2"/>
                </a:solidFill>
              </a:rPr>
              <a:t>50 Hz → 10 Hz</a:t>
            </a:r>
            <a:endParaRPr lang="en-US" sz="3000" dirty="0"/>
          </a:p>
        </p:txBody>
      </p:sp>
      <p:sp>
        <p:nvSpPr>
          <p:cNvPr id="7" name="Text 4"/>
          <p:cNvSpPr txBox="1"/>
          <p:nvPr/>
        </p:nvSpPr>
        <p:spPr>
          <a:xfrm>
            <a:off x="3931920" y="4754880"/>
            <a:ext cx="7436815" cy="960120"/>
          </a:xfrm>
          <a:prstGeom prst="rect">
            <a:avLst/>
          </a:prstGeom>
          <a:noFill/>
          <a:ln/>
        </p:spPr>
        <p:txBody>
          <a:bodyPr wrap="square" lIns="0" tIns="0" rIns="0" bIns="0" rtlCol="0" anchor="ctr"/>
          <a:lstStyle/>
          <a:p>
            <a:pPr indent="0" marL="0">
              <a:buNone/>
            </a:pPr>
            <a:r>
              <a:rPr lang="en-US" sz="1600" dirty="0">
                <a:solidFill>
                  <a:schemeClr val="tx1"/>
                </a:solidFill>
              </a:rPr>
              <a:t>Robot điều khiển ở 50 Hz nhưng ta chỉ nhìn thấy ở 10 Hz: ở ~0,47 m/s hai chấm liên tiếp trên đồ thị cách nhau ~47 mm.</a:t>
            </a:r>
            <a:endParaRPr lang="en-US" sz="1600" dirty="0"/>
          </a:p>
        </p:txBody>
      </p:sp>
      <p:sp>
        <p:nvSpPr>
          <p:cNvPr id="8" name="Text 5"/>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chemeClr val="tx2"/>
                </a:solidFill>
              </a:rPr>
              <a:t>Nguồn: firmware FWMR_run_test, config.h · log ngày 06, 07, 18/10/2026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DỮ LIỆU</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Đường đi của dữ liệu: từ cảm biến tới hình vẽ</a:t>
            </a:r>
            <a:endParaRPr lang="en-US" sz="3000" dirty="0"/>
          </a:p>
        </p:txBody>
      </p:sp>
      <p:sp>
        <p:nvSpPr>
          <p:cNvPr id="4" name="hop Cảm biến"/>
          <p:cNvSpPr/>
          <p:nvPr/>
        </p:nvSpPr>
        <p:spPr>
          <a:xfrm>
            <a:off x="548640" y="1554480"/>
            <a:ext cx="2300402" cy="1234440"/>
          </a:xfrm>
          <a:prstGeom prst="roundRect">
            <a:avLst>
              <a:gd name="adj" fmla="val 7407"/>
            </a:avLst>
          </a:prstGeom>
          <a:solidFill>
            <a:schemeClr val="bg2"/>
          </a:solidFill>
          <a:ln/>
        </p:spPr>
      </p:sp>
      <p:sp>
        <p:nvSpPr>
          <p:cNvPr id="5" name="Text 3"/>
          <p:cNvSpPr txBox="1"/>
          <p:nvPr/>
        </p:nvSpPr>
        <p:spPr>
          <a:xfrm>
            <a:off x="777240"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Cảm biến</a:t>
            </a:r>
            <a:endParaRPr lang="en-US" sz="1700" dirty="0"/>
          </a:p>
        </p:txBody>
      </p:sp>
      <p:sp>
        <p:nvSpPr>
          <p:cNvPr id="6" name="Text 4"/>
          <p:cNvSpPr txBox="1"/>
          <p:nvPr/>
        </p:nvSpPr>
        <p:spPr>
          <a:xfrm>
            <a:off x="777240"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encoder · gyro · camera</a:t>
            </a:r>
            <a:endParaRPr lang="en-US" sz="1300" dirty="0"/>
          </a:p>
        </p:txBody>
      </p:sp>
      <p:sp>
        <p:nvSpPr>
          <p:cNvPr id="7" name="mui ten"/>
          <p:cNvSpPr/>
          <p:nvPr/>
        </p:nvSpPr>
        <p:spPr>
          <a:xfrm>
            <a:off x="2958770" y="2025396"/>
            <a:ext cx="411480" cy="292608"/>
          </a:xfrm>
          <a:prstGeom prst="rightArrow">
            <a:avLst/>
          </a:prstGeom>
          <a:solidFill>
            <a:schemeClr val="tx2"/>
          </a:solidFill>
          <a:ln/>
        </p:spPr>
      </p:sp>
      <p:sp>
        <p:nvSpPr>
          <p:cNvPr id="8" name="hop STM32"/>
          <p:cNvSpPr/>
          <p:nvPr/>
        </p:nvSpPr>
        <p:spPr>
          <a:xfrm>
            <a:off x="3479978" y="1554480"/>
            <a:ext cx="2300402" cy="1234440"/>
          </a:xfrm>
          <a:prstGeom prst="roundRect">
            <a:avLst>
              <a:gd name="adj" fmla="val 7407"/>
            </a:avLst>
          </a:prstGeom>
          <a:solidFill>
            <a:schemeClr val="bg2"/>
          </a:solidFill>
          <a:ln/>
        </p:spPr>
      </p:sp>
      <p:sp>
        <p:nvSpPr>
          <p:cNvPr id="9" name="Text 7"/>
          <p:cNvSpPr txBox="1"/>
          <p:nvPr/>
        </p:nvSpPr>
        <p:spPr>
          <a:xfrm>
            <a:off x="3708578"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STM32</a:t>
            </a:r>
            <a:endParaRPr lang="en-US" sz="1700" dirty="0"/>
          </a:p>
        </p:txBody>
      </p:sp>
      <p:sp>
        <p:nvSpPr>
          <p:cNvPr id="10" name="Text 8"/>
          <p:cNvSpPr txBox="1"/>
          <p:nvPr/>
        </p:nvSpPr>
        <p:spPr>
          <a:xfrm>
            <a:off x="3708578"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vòng 20 ms: odometry / EKF, điều khiển, dừng</a:t>
            </a:r>
            <a:endParaRPr lang="en-US" sz="1300" dirty="0"/>
          </a:p>
        </p:txBody>
      </p:sp>
      <p:sp>
        <p:nvSpPr>
          <p:cNvPr id="11" name="mui ten"/>
          <p:cNvSpPr/>
          <p:nvPr/>
        </p:nvSpPr>
        <p:spPr>
          <a:xfrm>
            <a:off x="5890108" y="2025396"/>
            <a:ext cx="411480" cy="292608"/>
          </a:xfrm>
          <a:prstGeom prst="rightArrow">
            <a:avLst/>
          </a:prstGeom>
          <a:solidFill>
            <a:schemeClr val="tx2"/>
          </a:solidFill>
          <a:ln/>
        </p:spPr>
      </p:sp>
      <p:sp>
        <p:nvSpPr>
          <p:cNvPr id="12" name="hop Dòng ENC"/>
          <p:cNvSpPr/>
          <p:nvPr/>
        </p:nvSpPr>
        <p:spPr>
          <a:xfrm>
            <a:off x="6411316" y="1554480"/>
            <a:ext cx="2300402" cy="1234440"/>
          </a:xfrm>
          <a:prstGeom prst="roundRect">
            <a:avLst>
              <a:gd name="adj" fmla="val 7407"/>
            </a:avLst>
          </a:prstGeom>
          <a:solidFill>
            <a:srgbClr val="E3EEFB"/>
          </a:solidFill>
          <a:ln/>
        </p:spPr>
      </p:sp>
      <p:sp>
        <p:nvSpPr>
          <p:cNvPr id="13" name="Text 11"/>
          <p:cNvSpPr txBox="1"/>
          <p:nvPr/>
        </p:nvSpPr>
        <p:spPr>
          <a:xfrm>
            <a:off x="6639916"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Dòng ENC</a:t>
            </a:r>
            <a:endParaRPr lang="en-US" sz="1700" dirty="0"/>
          </a:p>
        </p:txBody>
      </p:sp>
      <p:sp>
        <p:nvSpPr>
          <p:cNvPr id="14" name="Text 12"/>
          <p:cNvSpPr txBox="1"/>
          <p:nvPr/>
        </p:nvSpPr>
        <p:spPr>
          <a:xfrm>
            <a:off x="6639916"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mỗi 100 ms · 14 hoặc 19 cột</a:t>
            </a:r>
            <a:endParaRPr lang="en-US" sz="1300" dirty="0"/>
          </a:p>
        </p:txBody>
      </p:sp>
      <p:sp>
        <p:nvSpPr>
          <p:cNvPr id="15" name="mui ten"/>
          <p:cNvSpPr/>
          <p:nvPr/>
        </p:nvSpPr>
        <p:spPr>
          <a:xfrm>
            <a:off x="8821445" y="2025396"/>
            <a:ext cx="411480" cy="292608"/>
          </a:xfrm>
          <a:prstGeom prst="rightArrow">
            <a:avLst/>
          </a:prstGeom>
          <a:solidFill>
            <a:schemeClr val="tx2"/>
          </a:solidFill>
          <a:ln/>
        </p:spPr>
      </p:sp>
      <p:sp>
        <p:nvSpPr>
          <p:cNvPr id="16" name="hop ESP-NOW"/>
          <p:cNvSpPr/>
          <p:nvPr/>
        </p:nvSpPr>
        <p:spPr>
          <a:xfrm>
            <a:off x="9342653" y="1554480"/>
            <a:ext cx="2300402" cy="1234440"/>
          </a:xfrm>
          <a:prstGeom prst="roundRect">
            <a:avLst>
              <a:gd name="adj" fmla="val 7407"/>
            </a:avLst>
          </a:prstGeom>
          <a:solidFill>
            <a:schemeClr val="bg2"/>
          </a:solidFill>
          <a:ln/>
        </p:spPr>
      </p:sp>
      <p:sp>
        <p:nvSpPr>
          <p:cNvPr id="17" name="Text 15"/>
          <p:cNvSpPr txBox="1"/>
          <p:nvPr/>
        </p:nvSpPr>
        <p:spPr>
          <a:xfrm>
            <a:off x="9571253"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ESP-NOW</a:t>
            </a:r>
            <a:endParaRPr lang="en-US" sz="1700" dirty="0"/>
          </a:p>
        </p:txBody>
      </p:sp>
      <p:sp>
        <p:nvSpPr>
          <p:cNvPr id="18" name="Text 16"/>
          <p:cNvSpPr txBox="1"/>
          <p:nvPr/>
        </p:nvSpPr>
        <p:spPr>
          <a:xfrm>
            <a:off x="9571253"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esp32R → ESP32 laptop → file .txt</a:t>
            </a:r>
            <a:endParaRPr lang="en-US" sz="1300" dirty="0"/>
          </a:p>
        </p:txBody>
      </p:sp>
      <p:sp>
        <p:nvSpPr>
          <p:cNvPr id="19" name="hop fwmr_parse_log.m"/>
          <p:cNvSpPr/>
          <p:nvPr/>
        </p:nvSpPr>
        <p:spPr>
          <a:xfrm>
            <a:off x="548640" y="3246120"/>
            <a:ext cx="3277514" cy="1234440"/>
          </a:xfrm>
          <a:prstGeom prst="roundRect">
            <a:avLst>
              <a:gd name="adj" fmla="val 7407"/>
            </a:avLst>
          </a:prstGeom>
          <a:solidFill>
            <a:schemeClr val="bg2"/>
          </a:solidFill>
          <a:ln/>
        </p:spPr>
      </p:sp>
      <p:sp>
        <p:nvSpPr>
          <p:cNvPr id="20" name="Text 18"/>
          <p:cNvSpPr txBox="1"/>
          <p:nvPr/>
        </p:nvSpPr>
        <p:spPr>
          <a:xfrm>
            <a:off x="777240" y="3447288"/>
            <a:ext cx="2820314" cy="320040"/>
          </a:xfrm>
          <a:prstGeom prst="rect">
            <a:avLst/>
          </a:prstGeom>
          <a:noFill/>
          <a:ln/>
        </p:spPr>
        <p:txBody>
          <a:bodyPr wrap="square" lIns="0" tIns="0" rIns="0" bIns="0" rtlCol="0" anchor="t"/>
          <a:lstStyle/>
          <a:p>
            <a:pPr indent="0" marL="0">
              <a:buNone/>
            </a:pPr>
            <a:r>
              <a:rPr lang="en-US" sz="1700" b="1" dirty="0">
                <a:solidFill>
                  <a:schemeClr val="tx1"/>
                </a:solidFill>
              </a:rPr>
              <a:t>fwmr_parse_log.m</a:t>
            </a:r>
            <a:endParaRPr lang="en-US" sz="1700" dirty="0"/>
          </a:p>
        </p:txBody>
      </p:sp>
      <p:sp>
        <p:nvSpPr>
          <p:cNvPr id="21" name="Text 19"/>
          <p:cNvSpPr txBox="1"/>
          <p:nvPr/>
        </p:nvSpPr>
        <p:spPr>
          <a:xfrm>
            <a:off x="777240" y="3813048"/>
            <a:ext cx="2820314" cy="548640"/>
          </a:xfrm>
          <a:prstGeom prst="rect">
            <a:avLst/>
          </a:prstGeom>
          <a:noFill/>
          <a:ln/>
        </p:spPr>
        <p:txBody>
          <a:bodyPr wrap="square" lIns="0" tIns="0" rIns="0" bIns="0" rtlCol="0" anchor="t"/>
          <a:lstStyle/>
          <a:p>
            <a:pPr indent="0" marL="0">
              <a:buNone/>
            </a:pPr>
            <a:r>
              <a:rPr lang="en-US" sz="1300" dirty="0">
                <a:solidFill>
                  <a:schemeClr val="tx2"/>
                </a:solidFill>
              </a:rPr>
              <a:t>tách từng lần chạy, đọc từng cột</a:t>
            </a:r>
            <a:endParaRPr lang="en-US" sz="1300" dirty="0"/>
          </a:p>
        </p:txBody>
      </p:sp>
      <p:sp>
        <p:nvSpPr>
          <p:cNvPr id="22" name="mui ten"/>
          <p:cNvSpPr/>
          <p:nvPr/>
        </p:nvSpPr>
        <p:spPr>
          <a:xfrm>
            <a:off x="3935882" y="3717036"/>
            <a:ext cx="411480" cy="292608"/>
          </a:xfrm>
          <a:prstGeom prst="rightArrow">
            <a:avLst/>
          </a:prstGeom>
          <a:solidFill>
            <a:schemeClr val="tx2"/>
          </a:solidFill>
          <a:ln/>
        </p:spPr>
      </p:sp>
      <p:sp>
        <p:nvSpPr>
          <p:cNvPr id="23" name="hop Script so sánh"/>
          <p:cNvSpPr/>
          <p:nvPr/>
        </p:nvSpPr>
        <p:spPr>
          <a:xfrm>
            <a:off x="4457090" y="3246120"/>
            <a:ext cx="3277514" cy="1234440"/>
          </a:xfrm>
          <a:prstGeom prst="roundRect">
            <a:avLst>
              <a:gd name="adj" fmla="val 7407"/>
            </a:avLst>
          </a:prstGeom>
          <a:solidFill>
            <a:schemeClr val="bg2"/>
          </a:solidFill>
          <a:ln/>
        </p:spPr>
      </p:sp>
      <p:sp>
        <p:nvSpPr>
          <p:cNvPr id="24" name="Text 22"/>
          <p:cNvSpPr txBox="1"/>
          <p:nvPr/>
        </p:nvSpPr>
        <p:spPr>
          <a:xfrm>
            <a:off x="4685690" y="3447288"/>
            <a:ext cx="2820314" cy="320040"/>
          </a:xfrm>
          <a:prstGeom prst="rect">
            <a:avLst/>
          </a:prstGeom>
          <a:noFill/>
          <a:ln/>
        </p:spPr>
        <p:txBody>
          <a:bodyPr wrap="square" lIns="0" tIns="0" rIns="0" bIns="0" rtlCol="0" anchor="t"/>
          <a:lstStyle/>
          <a:p>
            <a:pPr indent="0" marL="0">
              <a:buNone/>
            </a:pPr>
            <a:r>
              <a:rPr lang="en-US" sz="1700" b="1" dirty="0">
                <a:solidFill>
                  <a:schemeClr val="tx1"/>
                </a:solidFill>
              </a:rPr>
              <a:t>Script so sánh</a:t>
            </a:r>
            <a:endParaRPr lang="en-US" sz="1700" dirty="0"/>
          </a:p>
        </p:txBody>
      </p:sp>
      <p:sp>
        <p:nvSpPr>
          <p:cNvPr id="25" name="Text 23"/>
          <p:cNvSpPr txBox="1"/>
          <p:nvPr/>
        </p:nvSpPr>
        <p:spPr>
          <a:xfrm>
            <a:off x="4685690" y="3813048"/>
            <a:ext cx="2820314" cy="548640"/>
          </a:xfrm>
          <a:prstGeom prst="rect">
            <a:avLst/>
          </a:prstGeom>
          <a:noFill/>
          <a:ln/>
        </p:spPr>
        <p:txBody>
          <a:bodyPr wrap="square" lIns="0" tIns="0" rIns="0" bIns="0" rtlCol="0" anchor="t"/>
          <a:lstStyle/>
          <a:p>
            <a:pPr indent="0" marL="0">
              <a:buNone/>
            </a:pPr>
            <a:r>
              <a:rPr lang="en-US" sz="1300" dirty="0">
                <a:solidFill>
                  <a:schemeClr val="tx2"/>
                </a:solidFill>
              </a:rPr>
              <a:t>chọn cột, lọc lần lỗi, tính chỉ số</a:t>
            </a:r>
            <a:endParaRPr lang="en-US" sz="1300" dirty="0"/>
          </a:p>
        </p:txBody>
      </p:sp>
      <p:sp>
        <p:nvSpPr>
          <p:cNvPr id="26" name="mui ten"/>
          <p:cNvSpPr/>
          <p:nvPr/>
        </p:nvSpPr>
        <p:spPr>
          <a:xfrm>
            <a:off x="7844333" y="3717036"/>
            <a:ext cx="411480" cy="292608"/>
          </a:xfrm>
          <a:prstGeom prst="rightArrow">
            <a:avLst/>
          </a:prstGeom>
          <a:solidFill>
            <a:schemeClr val="tx2"/>
          </a:solidFill>
          <a:ln/>
        </p:spPr>
      </p:sp>
      <p:sp>
        <p:nvSpPr>
          <p:cNvPr id="27" name="hop Hình + bảng"/>
          <p:cNvSpPr/>
          <p:nvPr/>
        </p:nvSpPr>
        <p:spPr>
          <a:xfrm>
            <a:off x="8365541" y="3246120"/>
            <a:ext cx="3277514" cy="1234440"/>
          </a:xfrm>
          <a:prstGeom prst="roundRect">
            <a:avLst>
              <a:gd name="adj" fmla="val 7407"/>
            </a:avLst>
          </a:prstGeom>
          <a:solidFill>
            <a:schemeClr val="bg2"/>
          </a:solidFill>
          <a:ln/>
        </p:spPr>
      </p:sp>
      <p:sp>
        <p:nvSpPr>
          <p:cNvPr id="28" name="Text 26"/>
          <p:cNvSpPr txBox="1"/>
          <p:nvPr/>
        </p:nvSpPr>
        <p:spPr>
          <a:xfrm>
            <a:off x="8594141" y="3447288"/>
            <a:ext cx="2820314" cy="320040"/>
          </a:xfrm>
          <a:prstGeom prst="rect">
            <a:avLst/>
          </a:prstGeom>
          <a:noFill/>
          <a:ln/>
        </p:spPr>
        <p:txBody>
          <a:bodyPr wrap="square" lIns="0" tIns="0" rIns="0" bIns="0" rtlCol="0" anchor="t"/>
          <a:lstStyle/>
          <a:p>
            <a:pPr indent="0" marL="0">
              <a:buNone/>
            </a:pPr>
            <a:r>
              <a:rPr lang="en-US" sz="1700" b="1" dirty="0">
                <a:solidFill>
                  <a:schemeClr val="tx1"/>
                </a:solidFill>
              </a:rPr>
              <a:t>Hình + bảng</a:t>
            </a:r>
            <a:endParaRPr lang="en-US" sz="1700" dirty="0"/>
          </a:p>
        </p:txBody>
      </p:sp>
      <p:sp>
        <p:nvSpPr>
          <p:cNvPr id="29" name="Text 27"/>
          <p:cNvSpPr txBox="1"/>
          <p:nvPr/>
        </p:nvSpPr>
        <p:spPr>
          <a:xfrm>
            <a:off x="8594141" y="3813048"/>
            <a:ext cx="2820314" cy="548640"/>
          </a:xfrm>
          <a:prstGeom prst="rect">
            <a:avLst/>
          </a:prstGeom>
          <a:noFill/>
          <a:ln/>
        </p:spPr>
        <p:txBody>
          <a:bodyPr wrap="square" lIns="0" tIns="0" rIns="0" bIns="0" rtlCol="0" anchor="t"/>
          <a:lstStyle/>
          <a:p>
            <a:pPr indent="0" marL="0">
              <a:buNone/>
            </a:pPr>
            <a:r>
              <a:rPr lang="en-US" sz="1300" dirty="0">
                <a:solidFill>
                  <a:schemeClr val="tx2"/>
                </a:solidFill>
              </a:rPr>
              <a:t>quỹ đạo, lệch ngang, góc, RMS</a:t>
            </a:r>
            <a:endParaRPr lang="en-US" sz="1300" dirty="0"/>
          </a:p>
        </p:txBody>
      </p:sp>
      <p:sp>
        <p:nvSpPr>
          <p:cNvPr id="30" name="Text 28"/>
          <p:cNvSpPr txBox="1"/>
          <p:nvPr/>
        </p:nvSpPr>
        <p:spPr>
          <a:xfrm>
            <a:off x="548640" y="4983480"/>
            <a:ext cx="11094415" cy="731520"/>
          </a:xfrm>
          <a:prstGeom prst="rect">
            <a:avLst/>
          </a:prstGeom>
          <a:noFill/>
          <a:ln/>
        </p:spPr>
        <p:txBody>
          <a:bodyPr wrap="square" lIns="0" tIns="0" rIns="0" bIns="0" rtlCol="0" anchor="t"/>
          <a:lstStyle/>
          <a:p>
            <a:pPr indent="0" marL="0">
              <a:buNone/>
            </a:pPr>
            <a:r>
              <a:rPr lang="en-US" sz="1600" dirty="0">
                <a:solidFill>
                  <a:schemeClr val="tx2"/>
                </a:solidFill>
              </a:rPr>
              <a:t>Bài 1, 2 vẽ cột </a:t>
            </a:r>
            <a:pPr indent="0" marL="0">
              <a:buNone/>
            </a:pPr>
            <a:r>
              <a:rPr lang="en-US" sz="1600" b="1" dirty="0">
                <a:solidFill>
                  <a:schemeClr val="tx2"/>
                </a:solidFill>
              </a:rPr>
              <a:t>xi, yi</a:t>
            </a:r>
            <a:pPr indent="0" marL="0">
              <a:buNone/>
            </a:pPr>
            <a:r>
              <a:rPr lang="en-US" sz="1600" dirty="0">
                <a:solidFill>
                  <a:schemeClr val="tx2"/>
                </a:solidFill>
              </a:rPr>
              <a:t> (odometry, góc IMU). Bài 3 vẽ cột </a:t>
            </a:r>
            <a:pPr indent="0" marL="0">
              <a:buNone/>
            </a:pPr>
            <a:r>
              <a:rPr lang="en-US" sz="1600" b="1" dirty="0">
                <a:solidFill>
                  <a:schemeClr val="tx2"/>
                </a:solidFill>
              </a:rPr>
              <a:t>xc, yc</a:t>
            </a:r>
            <a:pPr indent="0" marL="0">
              <a:buNone/>
            </a:pPr>
            <a:r>
              <a:rPr lang="en-US" sz="1600" dirty="0">
                <a:solidFill>
                  <a:schemeClr val="tx2"/>
                </a:solidFill>
              </a:rPr>
              <a:t> (camera), chỉ những dòng có khung camera mới. Chỉ số tính theo quãng đường x, không ghép từng chấm.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3 · EKF TRẠNG THÁI [X, Y, θ, BIAS GYRO]</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EKF trộn encoder, gyro và camera</a:t>
            </a:r>
            <a:endParaRPr lang="en-US" sz="3000" dirty="0"/>
          </a:p>
        </p:txBody>
      </p:sp>
      <p:sp>
        <p:nvSpPr>
          <p:cNvPr id="4" name="the Đầu vào"/>
          <p:cNvSpPr/>
          <p:nvPr/>
        </p:nvSpPr>
        <p:spPr>
          <a:xfrm>
            <a:off x="548640" y="1463040"/>
            <a:ext cx="3484778" cy="4572000"/>
          </a:xfrm>
          <a:prstGeom prst="roundRect">
            <a:avLst>
              <a:gd name="adj" fmla="val 2624"/>
            </a:avLst>
          </a:prstGeom>
          <a:solidFill>
            <a:schemeClr val="bg2"/>
          </a:solidFill>
          <a:ln/>
        </p:spPr>
      </p:sp>
      <p:sp>
        <p:nvSpPr>
          <p:cNvPr id="5" name="cham mau"/>
          <p:cNvSpPr/>
          <p:nvPr/>
        </p:nvSpPr>
        <p:spPr>
          <a:xfrm>
            <a:off x="868680" y="1783080"/>
            <a:ext cx="411480" cy="411480"/>
          </a:xfrm>
          <a:prstGeom prst="ellipse">
            <a:avLst/>
          </a:prstGeom>
          <a:solidFill>
            <a:schemeClr val="accent3"/>
          </a:solidFill>
          <a:ln/>
        </p:spPr>
      </p:sp>
      <p:sp>
        <p:nvSpPr>
          <p:cNvPr id="6" name="Text 4"/>
          <p:cNvSpPr txBox="1"/>
          <p:nvPr/>
        </p:nvSpPr>
        <p:spPr>
          <a:xfrm>
            <a:off x="86868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810512"/>
            <a:ext cx="2387498" cy="365760"/>
          </a:xfrm>
          <a:prstGeom prst="rect">
            <a:avLst/>
          </a:prstGeom>
          <a:noFill/>
          <a:ln/>
        </p:spPr>
        <p:txBody>
          <a:bodyPr wrap="square" lIns="0" tIns="0" rIns="0" bIns="0" rtlCol="0" anchor="t"/>
          <a:lstStyle/>
          <a:p>
            <a:pPr indent="0" marL="0">
              <a:buNone/>
            </a:pPr>
            <a:r>
              <a:rPr lang="en-US" sz="2000" b="1" dirty="0">
                <a:solidFill>
                  <a:schemeClr val="tx1"/>
                </a:solidFill>
              </a:rPr>
              <a:t>Đầu vào</a:t>
            </a:r>
            <a:endParaRPr lang="en-US" sz="2000" dirty="0"/>
          </a:p>
        </p:txBody>
      </p:sp>
      <p:sp>
        <p:nvSpPr>
          <p:cNvPr id="8" name="Text 6"/>
          <p:cNvSpPr txBox="1"/>
          <p:nvPr/>
        </p:nvSpPr>
        <p:spPr>
          <a:xfrm>
            <a:off x="868680" y="2514600"/>
            <a:ext cx="2844698" cy="32918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Encoder</a:t>
            </a:r>
            <a:pPr indent="0" marL="0">
              <a:spcAft>
                <a:spcPts val="1200"/>
              </a:spcAft>
              <a:buNone/>
            </a:pPr>
            <a:r>
              <a:rPr lang="en-US" sz="1500" dirty="0">
                <a:solidFill>
                  <a:schemeClr val="tx1"/>
                </a:solidFill>
              </a:rPr>
              <a:t>: độ dời thân xe × hệ số trượt 0,97 / 0,75 · 20 ms</a:t>
            </a:r>
            <a:endParaRPr lang="en-US" sz="1500" dirty="0"/>
          </a:p>
          <a:p>
            <a:pPr indent="0" marL="0">
              <a:spcAft>
                <a:spcPts val="1200"/>
              </a:spcAft>
              <a:buNone/>
            </a:pPr>
            <a:r>
              <a:rPr lang="en-US" sz="1500" b="1" dirty="0">
                <a:solidFill>
                  <a:schemeClr val="tx1"/>
                </a:solidFill>
              </a:rPr>
              <a:t>Gyro Z</a:t>
            </a:r>
            <a:pPr indent="0" marL="0">
              <a:spcAft>
                <a:spcPts val="1200"/>
              </a:spcAft>
              <a:buNone/>
            </a:pPr>
            <a:r>
              <a:rPr lang="en-US" sz="1500" dirty="0">
                <a:solidFill>
                  <a:schemeClr val="tx1"/>
                </a:solidFill>
              </a:rPr>
              <a:t>: trừ bias đã học · 20 ms</a:t>
            </a:r>
            <a:endParaRPr lang="en-US" sz="1500" dirty="0"/>
          </a:p>
          <a:p>
            <a:pPr indent="0" marL="0">
              <a:spcAft>
                <a:spcPts val="1200"/>
              </a:spcAft>
              <a:buNone/>
            </a:pPr>
            <a:r>
              <a:rPr lang="en-US" sz="1500" b="1" dirty="0">
                <a:solidFill>
                  <a:schemeClr val="tx1"/>
                </a:solidFill>
              </a:rPr>
              <a:t>Camera</a:t>
            </a:r>
            <a:pPr indent="0" marL="0">
              <a:spcAft>
                <a:spcPts val="1200"/>
              </a:spcAft>
              <a:buNone/>
            </a:pPr>
            <a:r>
              <a:rPr lang="en-US" sz="1500" dirty="0">
                <a:solidFill>
                  <a:schemeClr val="tx1"/>
                </a:solidFill>
              </a:rPr>
              <a:t>: X, Y, θ tuyệt đối · ~77 ms, trễ ~200 ms</a:t>
            </a:r>
            <a:endParaRPr lang="en-US" sz="1500" dirty="0"/>
          </a:p>
        </p:txBody>
      </p:sp>
      <p:sp>
        <p:nvSpPr>
          <p:cNvPr id="9" name="the Xử lý"/>
          <p:cNvSpPr/>
          <p:nvPr/>
        </p:nvSpPr>
        <p:spPr>
          <a:xfrm>
            <a:off x="4353458" y="1463040"/>
            <a:ext cx="3484778" cy="4572000"/>
          </a:xfrm>
          <a:prstGeom prst="roundRect">
            <a:avLst>
              <a:gd name="adj" fmla="val 2624"/>
            </a:avLst>
          </a:prstGeom>
          <a:solidFill>
            <a:schemeClr val="bg2"/>
          </a:solidFill>
          <a:ln/>
        </p:spPr>
      </p:sp>
      <p:sp>
        <p:nvSpPr>
          <p:cNvPr id="10" name="cham mau"/>
          <p:cNvSpPr/>
          <p:nvPr/>
        </p:nvSpPr>
        <p:spPr>
          <a:xfrm>
            <a:off x="4673498" y="1783080"/>
            <a:ext cx="411480" cy="411480"/>
          </a:xfrm>
          <a:prstGeom prst="ellipse">
            <a:avLst/>
          </a:prstGeom>
          <a:solidFill>
            <a:schemeClr val="accent3"/>
          </a:solidFill>
          <a:ln/>
        </p:spPr>
      </p:sp>
      <p:sp>
        <p:nvSpPr>
          <p:cNvPr id="11" name="Text 9"/>
          <p:cNvSpPr txBox="1"/>
          <p:nvPr/>
        </p:nvSpPr>
        <p:spPr>
          <a:xfrm>
            <a:off x="4673498"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222138" y="1810512"/>
            <a:ext cx="2387498" cy="365760"/>
          </a:xfrm>
          <a:prstGeom prst="rect">
            <a:avLst/>
          </a:prstGeom>
          <a:noFill/>
          <a:ln/>
        </p:spPr>
        <p:txBody>
          <a:bodyPr wrap="square" lIns="0" tIns="0" rIns="0" bIns="0" rtlCol="0" anchor="t"/>
          <a:lstStyle/>
          <a:p>
            <a:pPr indent="0" marL="0">
              <a:buNone/>
            </a:pPr>
            <a:r>
              <a:rPr lang="en-US" sz="2000" b="1" dirty="0">
                <a:solidFill>
                  <a:schemeClr val="tx1"/>
                </a:solidFill>
              </a:rPr>
              <a:t>Xử lý</a:t>
            </a:r>
            <a:endParaRPr lang="en-US" sz="2000" dirty="0"/>
          </a:p>
        </p:txBody>
      </p:sp>
      <p:sp>
        <p:nvSpPr>
          <p:cNvPr id="13" name="Text 11"/>
          <p:cNvSpPr txBox="1"/>
          <p:nvPr/>
        </p:nvSpPr>
        <p:spPr>
          <a:xfrm>
            <a:off x="4673498" y="2514600"/>
            <a:ext cx="2844698" cy="32918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Dự đoán</a:t>
            </a:r>
            <a:pPr indent="0" marL="0">
              <a:spcAft>
                <a:spcPts val="1200"/>
              </a:spcAft>
              <a:buNone/>
            </a:pPr>
            <a:r>
              <a:rPr lang="en-US" sz="1500" dirty="0">
                <a:solidFill>
                  <a:schemeClr val="tx1"/>
                </a:solidFill>
              </a:rPr>
              <a:t> mỗi 20 ms, lưu lịch sử 1,28 s</a:t>
            </a:r>
            <a:endParaRPr lang="en-US" sz="1500" dirty="0"/>
          </a:p>
          <a:p>
            <a:pPr indent="0" marL="0">
              <a:spcAft>
                <a:spcPts val="1200"/>
              </a:spcAft>
              <a:buNone/>
            </a:pPr>
            <a:r>
              <a:rPr lang="en-US" sz="1500" b="1" dirty="0">
                <a:solidFill>
                  <a:schemeClr val="tx1"/>
                </a:solidFill>
              </a:rPr>
              <a:t>Cập nhật</a:t>
            </a:r>
            <a:pPr indent="0" marL="0">
              <a:spcAft>
                <a:spcPts val="1200"/>
              </a:spcAft>
              <a:buNone/>
            </a:pPr>
            <a:r>
              <a:rPr lang="en-US" sz="1500" dirty="0">
                <a:solidFill>
                  <a:schemeClr val="tx1"/>
                </a:solidFill>
              </a:rPr>
              <a:t>: so camera với trạng thái lúc chụp, không phải lúc nhận</a:t>
            </a:r>
            <a:endParaRPr lang="en-US" sz="1500" dirty="0"/>
          </a:p>
          <a:p>
            <a:pPr indent="0" marL="0">
              <a:spcAft>
                <a:spcPts val="1200"/>
              </a:spcAft>
              <a:buNone/>
            </a:pPr>
            <a:r>
              <a:rPr lang="en-US" sz="1500" b="1" dirty="0">
                <a:solidFill>
                  <a:schemeClr val="tx1"/>
                </a:solidFill>
              </a:rPr>
              <a:t>Cổng χ² 16,3</a:t>
            </a:r>
            <a:pPr indent="0" marL="0">
              <a:spcAft>
                <a:spcPts val="1200"/>
              </a:spcAft>
              <a:buNone/>
            </a:pPr>
            <a:r>
              <a:rPr lang="en-US" sz="1500" dirty="0">
                <a:solidFill>
                  <a:schemeClr val="tx1"/>
                </a:solidFill>
              </a:rPr>
              <a:t> loại khung bất thường; 10 khung liền bị loại → nạp lại</a:t>
            </a:r>
            <a:endParaRPr lang="en-US" sz="1500" dirty="0"/>
          </a:p>
        </p:txBody>
      </p:sp>
      <p:sp>
        <p:nvSpPr>
          <p:cNvPr id="14" name="the Hệ số"/>
          <p:cNvSpPr/>
          <p:nvPr/>
        </p:nvSpPr>
        <p:spPr>
          <a:xfrm>
            <a:off x="8158277" y="1463040"/>
            <a:ext cx="3484778" cy="4572000"/>
          </a:xfrm>
          <a:prstGeom prst="roundRect">
            <a:avLst>
              <a:gd name="adj" fmla="val 2624"/>
            </a:avLst>
          </a:prstGeom>
          <a:solidFill>
            <a:schemeClr val="bg2"/>
          </a:solidFill>
          <a:ln/>
        </p:spPr>
      </p:sp>
      <p:sp>
        <p:nvSpPr>
          <p:cNvPr id="15" name="cham mau"/>
          <p:cNvSpPr/>
          <p:nvPr/>
        </p:nvSpPr>
        <p:spPr>
          <a:xfrm>
            <a:off x="8478317" y="1783080"/>
            <a:ext cx="411480" cy="411480"/>
          </a:xfrm>
          <a:prstGeom prst="ellipse">
            <a:avLst/>
          </a:prstGeom>
          <a:solidFill>
            <a:schemeClr val="accent3"/>
          </a:solidFill>
          <a:ln/>
        </p:spPr>
      </p:sp>
      <p:sp>
        <p:nvSpPr>
          <p:cNvPr id="16" name="Text 14"/>
          <p:cNvSpPr txBox="1"/>
          <p:nvPr/>
        </p:nvSpPr>
        <p:spPr>
          <a:xfrm>
            <a:off x="8478317"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9026957" y="1810512"/>
            <a:ext cx="2387498" cy="365760"/>
          </a:xfrm>
          <a:prstGeom prst="rect">
            <a:avLst/>
          </a:prstGeom>
          <a:noFill/>
          <a:ln/>
        </p:spPr>
        <p:txBody>
          <a:bodyPr wrap="square" lIns="0" tIns="0" rIns="0" bIns="0" rtlCol="0" anchor="t"/>
          <a:lstStyle/>
          <a:p>
            <a:pPr indent="0" marL="0">
              <a:buNone/>
            </a:pPr>
            <a:r>
              <a:rPr lang="en-US" sz="2000" b="1" dirty="0">
                <a:solidFill>
                  <a:schemeClr val="tx1"/>
                </a:solidFill>
              </a:rPr>
              <a:t>Hệ số</a:t>
            </a:r>
            <a:endParaRPr lang="en-US" sz="2000" dirty="0"/>
          </a:p>
        </p:txBody>
      </p:sp>
      <p:sp>
        <p:nvSpPr>
          <p:cNvPr id="18" name="Text 16"/>
          <p:cNvSpPr txBox="1"/>
          <p:nvPr/>
        </p:nvSpPr>
        <p:spPr>
          <a:xfrm>
            <a:off x="8478317" y="2514600"/>
            <a:ext cx="2844698" cy="32918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R camera</a:t>
            </a:r>
            <a:pPr indent="0" marL="0">
              <a:spcAft>
                <a:spcPts val="1200"/>
              </a:spcAft>
              <a:buNone/>
            </a:pPr>
            <a:r>
              <a:rPr lang="en-US" sz="1500" dirty="0">
                <a:solidFill>
                  <a:schemeClr val="tx1"/>
                </a:solidFill>
              </a:rPr>
              <a:t>: 1 cm (X, Y), 0,53° (θ, đo thật)</a:t>
            </a:r>
            <a:endParaRPr lang="en-US" sz="1500" dirty="0"/>
          </a:p>
          <a:p>
            <a:pPr indent="0" marL="0">
              <a:spcAft>
                <a:spcPts val="1200"/>
              </a:spcAft>
              <a:buNone/>
            </a:pPr>
            <a:r>
              <a:rPr lang="en-US" sz="1500" b="1" dirty="0">
                <a:solidFill>
                  <a:schemeClr val="tx1"/>
                </a:solidFill>
              </a:rPr>
              <a:t>Q encoder</a:t>
            </a:r>
            <a:pPr indent="0" marL="0">
              <a:spcAft>
                <a:spcPts val="1200"/>
              </a:spcAft>
              <a:buNone/>
            </a:pPr>
            <a:r>
              <a:rPr lang="en-US" sz="1500" dirty="0">
                <a:solidFill>
                  <a:schemeClr val="tx1"/>
                </a:solidFill>
              </a:rPr>
              <a:t>: 3 % dọc, 10 % ngang quãng đường</a:t>
            </a:r>
            <a:endParaRPr lang="en-US" sz="1500" dirty="0"/>
          </a:p>
          <a:p>
            <a:pPr indent="0" marL="0">
              <a:spcAft>
                <a:spcPts val="1200"/>
              </a:spcAft>
              <a:buNone/>
            </a:pPr>
            <a:r>
              <a:rPr lang="en-US" sz="1500" b="1" dirty="0">
                <a:solidFill>
                  <a:schemeClr val="tx1"/>
                </a:solidFill>
              </a:rPr>
              <a:t>K tự tính</a:t>
            </a:r>
            <a:pPr indent="0" marL="0">
              <a:spcAft>
                <a:spcPts val="1200"/>
              </a:spcAft>
              <a:buNone/>
            </a:pPr>
            <a:r>
              <a:rPr lang="en-US" sz="1500" dirty="0">
                <a:solidFill>
                  <a:schemeClr val="tx1"/>
                </a:solidFill>
              </a:rPr>
              <a:t> khi chạy: dọc ≈ 0,14 · ngang ≈ 0,24 · góc ≈ 0,05–0,12</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1 · THUẦN ENCODER · 06/10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Thuần encoder: 8 lần, lệch dần về một phía</a:t>
            </a:r>
            <a:endParaRPr lang="en-US" sz="3000" dirty="0"/>
          </a:p>
        </p:txBody>
      </p:sp>
      <p:sp>
        <p:nvSpPr>
          <p:cNvPr id="4" name="Text 2"/>
          <p:cNvSpPr txBox="1"/>
          <p:nvPr/>
        </p:nvSpPr>
        <p:spPr>
          <a:xfrm>
            <a:off x="548640" y="6217920"/>
            <a:ext cx="8092440" cy="228600"/>
          </a:xfrm>
          <a:prstGeom prst="rect">
            <a:avLst/>
          </a:prstGeom>
          <a:noFill/>
          <a:ln/>
        </p:spPr>
        <p:txBody>
          <a:bodyPr wrap="square" lIns="0" tIns="0" rIns="0" bIns="0" rtlCol="0" anchor="t"/>
          <a:lstStyle/>
          <a:p>
            <a:pPr indent="0" marL="0">
              <a:buNone/>
            </a:pPr>
            <a:r>
              <a:rPr lang="en-US" sz="1000" dirty="0">
                <a:solidFill>
                  <a:schemeClr val="tx2"/>
                </a:solidFill>
              </a:rPr>
              <a:t>Hình: chạy plot_slide_3_tests.m → Figure 1 (thuần encoder)</a:t>
            </a:r>
            <a:endParaRPr lang="en-US" sz="1000" dirty="0"/>
          </a:p>
        </p:txBody>
      </p:sp>
      <p:sp>
        <p:nvSpPr>
          <p:cNvPr id="5" name="cot chi so"/>
          <p:cNvSpPr/>
          <p:nvPr/>
        </p:nvSpPr>
        <p:spPr>
          <a:xfrm>
            <a:off x="8915400" y="1463040"/>
            <a:ext cx="2727655" cy="4709160"/>
          </a:xfrm>
          <a:prstGeom prst="roundRect">
            <a:avLst>
              <a:gd name="adj" fmla="val 3352"/>
            </a:avLst>
          </a:prstGeom>
          <a:solidFill>
            <a:schemeClr val="bg2"/>
          </a:solidFill>
          <a:ln/>
        </p:spPr>
      </p:sp>
      <p:sp>
        <p:nvSpPr>
          <p:cNvPr id="6"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|y| cuối, trung bình</a:t>
            </a:r>
            <a:endParaRPr lang="en-US" sz="1200" dirty="0"/>
          </a:p>
        </p:txBody>
      </p:sp>
      <p:sp>
        <p:nvSpPr>
          <p:cNvPr id="7"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370 mm</a:t>
            </a:r>
            <a:endParaRPr lang="en-US" sz="2200" dirty="0"/>
          </a:p>
        </p:txBody>
      </p:sp>
      <p:sp>
        <p:nvSpPr>
          <p:cNvPr id="8"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RMS lệch ngang</a:t>
            </a:r>
            <a:endParaRPr lang="en-US" sz="1200" dirty="0"/>
          </a:p>
        </p:txBody>
      </p:sp>
      <p:sp>
        <p:nvSpPr>
          <p:cNvPr id="9"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157 mm</a:t>
            </a:r>
            <a:endParaRPr lang="en-US" sz="2200" dirty="0"/>
          </a:p>
        </p:txBody>
      </p:sp>
      <p:sp>
        <p:nvSpPr>
          <p:cNvPr id="10" name="Text 8"/>
          <p:cNvSpPr txBox="1"/>
          <p:nvPr/>
        </p:nvSpPr>
        <p:spPr>
          <a:xfrm>
            <a:off x="9144000" y="3474720"/>
            <a:ext cx="2270455" cy="256032"/>
          </a:xfrm>
          <a:prstGeom prst="rect">
            <a:avLst/>
          </a:prstGeom>
          <a:noFill/>
          <a:ln/>
        </p:spPr>
        <p:txBody>
          <a:bodyPr wrap="square" lIns="0" tIns="0" rIns="0" bIns="0" rtlCol="0" anchor="t"/>
          <a:lstStyle/>
          <a:p>
            <a:pPr indent="0" marL="0">
              <a:buNone/>
            </a:pPr>
            <a:r>
              <a:rPr lang="en-US" sz="1200" dirty="0">
                <a:solidFill>
                  <a:schemeClr val="tx2"/>
                </a:solidFill>
              </a:rPr>
              <a:t>Góc cuối</a:t>
            </a:r>
            <a:endParaRPr lang="en-US" sz="1200" dirty="0"/>
          </a:p>
        </p:txBody>
      </p:sp>
      <p:sp>
        <p:nvSpPr>
          <p:cNvPr id="11" name="Text 9"/>
          <p:cNvSpPr txBox="1"/>
          <p:nvPr/>
        </p:nvSpPr>
        <p:spPr>
          <a:xfrm>
            <a:off x="9144000" y="374904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−11° … −24°</a:t>
            </a:r>
            <a:endParaRPr lang="en-US" sz="2200" dirty="0"/>
          </a:p>
        </p:txBody>
      </p:sp>
      <p:sp>
        <p:nvSpPr>
          <p:cNvPr id="12" name="Text 10"/>
          <p:cNvSpPr txBox="1"/>
          <p:nvPr/>
        </p:nvSpPr>
        <p:spPr>
          <a:xfrm>
            <a:off x="9144000" y="4389120"/>
            <a:ext cx="2270455" cy="1691640"/>
          </a:xfrm>
          <a:prstGeom prst="rect">
            <a:avLst/>
          </a:prstGeom>
          <a:noFill/>
          <a:ln/>
        </p:spPr>
        <p:txBody>
          <a:bodyPr wrap="square" lIns="0" tIns="0" rIns="0" bIns="0" rtlCol="0" anchor="t"/>
          <a:lstStyle/>
          <a:p>
            <a:pPr indent="0" marL="0">
              <a:buNone/>
            </a:pPr>
            <a:r>
              <a:rPr lang="en-US" sz="1200" dirty="0">
                <a:solidFill>
                  <a:schemeClr val="tx1"/>
                </a:solidFill>
              </a:rPr>
              <a:t>Lần nào xe cũng lệch về bên phải nhưng mỗi lần một khác, nên không bù trước được. Tọa độ: odometry của robot.</a:t>
            </a:r>
            <a:endParaRPr lang="en-US" sz="1200" dirty="0"/>
          </a:p>
        </p:txBody>
      </p:sp>
      <p:sp>
        <p:nvSpPr>
          <p:cNvPr id="14" name="Text 0"/>
          <p:cNvSpPr/>
          <p:nvPr>
            <p:ph idx="102" hasCustomPrompt="1"/>
          </p:nvPr>
        </p:nvSpPr>
        <p:spPr>
          <a:xfrm>
            <a:off x="548640" y="1463040"/>
            <a:ext cx="8092440" cy="4709160"/>
          </a:xfrm>
          <a:prstGeom prst="rect">
            <a:avLst/>
          </a:prstGeom>
          <a:noFill/>
          <a:ln/>
        </p:spPr>
        <p:txBody>
          <a:bodyPr wrap="square" rtlCol="0"/>
          <a:lstStyle/>
          <a:p>
            <a:pPr indent="0" marL="0">
              <a:buNone/>
            </a:pP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2 · ENCODER + IMU · 07/10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Encoder + IMU: 8 lần, giữ hướng quanh −2°</a:t>
            </a:r>
            <a:endParaRPr lang="en-US" sz="3000" dirty="0"/>
          </a:p>
        </p:txBody>
      </p:sp>
      <p:sp>
        <p:nvSpPr>
          <p:cNvPr id="4" name="Text 2"/>
          <p:cNvSpPr txBox="1"/>
          <p:nvPr/>
        </p:nvSpPr>
        <p:spPr>
          <a:xfrm>
            <a:off x="548640" y="6217920"/>
            <a:ext cx="8092440" cy="228600"/>
          </a:xfrm>
          <a:prstGeom prst="rect">
            <a:avLst/>
          </a:prstGeom>
          <a:noFill/>
          <a:ln/>
        </p:spPr>
        <p:txBody>
          <a:bodyPr wrap="square" lIns="0" tIns="0" rIns="0" bIns="0" rtlCol="0" anchor="t"/>
          <a:lstStyle/>
          <a:p>
            <a:pPr indent="0" marL="0">
              <a:buNone/>
            </a:pPr>
            <a:r>
              <a:rPr lang="en-US" sz="1000" dirty="0">
                <a:solidFill>
                  <a:schemeClr val="tx2"/>
                </a:solidFill>
              </a:rPr>
              <a:t>Hình: chạy plot_slide_3_tests.m → Figure 2 (encoder + IMU)</a:t>
            </a:r>
            <a:endParaRPr lang="en-US" sz="1000" dirty="0"/>
          </a:p>
        </p:txBody>
      </p:sp>
      <p:sp>
        <p:nvSpPr>
          <p:cNvPr id="5" name="cot chi so"/>
          <p:cNvSpPr/>
          <p:nvPr/>
        </p:nvSpPr>
        <p:spPr>
          <a:xfrm>
            <a:off x="8915400" y="1463040"/>
            <a:ext cx="2727655" cy="4709160"/>
          </a:xfrm>
          <a:prstGeom prst="roundRect">
            <a:avLst>
              <a:gd name="adj" fmla="val 3352"/>
            </a:avLst>
          </a:prstGeom>
          <a:solidFill>
            <a:schemeClr val="bg2"/>
          </a:solidFill>
          <a:ln/>
        </p:spPr>
      </p:sp>
      <p:sp>
        <p:nvSpPr>
          <p:cNvPr id="6"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|y| cuối, trung bình</a:t>
            </a:r>
            <a:endParaRPr lang="en-US" sz="1200" dirty="0"/>
          </a:p>
        </p:txBody>
      </p:sp>
      <p:sp>
        <p:nvSpPr>
          <p:cNvPr id="7"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2"/>
                </a:solidFill>
              </a:rPr>
              <a:t>66 mm</a:t>
            </a:r>
            <a:endParaRPr lang="en-US" sz="2200" dirty="0"/>
          </a:p>
        </p:txBody>
      </p:sp>
      <p:sp>
        <p:nvSpPr>
          <p:cNvPr id="8"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RMS lệch ngang</a:t>
            </a:r>
            <a:endParaRPr lang="en-US" sz="1200" dirty="0"/>
          </a:p>
        </p:txBody>
      </p:sp>
      <p:sp>
        <p:nvSpPr>
          <p:cNvPr id="9"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2"/>
                </a:solidFill>
              </a:rPr>
              <a:t>35 mm</a:t>
            </a:r>
            <a:endParaRPr lang="en-US" sz="2200" dirty="0"/>
          </a:p>
        </p:txBody>
      </p:sp>
      <p:sp>
        <p:nvSpPr>
          <p:cNvPr id="10" name="Text 8"/>
          <p:cNvSpPr txBox="1"/>
          <p:nvPr/>
        </p:nvSpPr>
        <p:spPr>
          <a:xfrm>
            <a:off x="9144000" y="3474720"/>
            <a:ext cx="2270455" cy="256032"/>
          </a:xfrm>
          <a:prstGeom prst="rect">
            <a:avLst/>
          </a:prstGeom>
          <a:noFill/>
          <a:ln/>
        </p:spPr>
        <p:txBody>
          <a:bodyPr wrap="square" lIns="0" tIns="0" rIns="0" bIns="0" rtlCol="0" anchor="t"/>
          <a:lstStyle/>
          <a:p>
            <a:pPr indent="0" marL="0">
              <a:buNone/>
            </a:pPr>
            <a:r>
              <a:rPr lang="en-US" sz="1200" dirty="0">
                <a:solidFill>
                  <a:schemeClr val="tx2"/>
                </a:solidFill>
              </a:rPr>
              <a:t>Góc khi chạy</a:t>
            </a:r>
            <a:endParaRPr lang="en-US" sz="1200" dirty="0"/>
          </a:p>
        </p:txBody>
      </p:sp>
      <p:sp>
        <p:nvSpPr>
          <p:cNvPr id="11" name="Text 9"/>
          <p:cNvSpPr txBox="1"/>
          <p:nvPr/>
        </p:nvSpPr>
        <p:spPr>
          <a:xfrm>
            <a:off x="9144000" y="3749040"/>
            <a:ext cx="2270455" cy="457200"/>
          </a:xfrm>
          <a:prstGeom prst="rect">
            <a:avLst/>
          </a:prstGeom>
          <a:noFill/>
          <a:ln/>
        </p:spPr>
        <p:txBody>
          <a:bodyPr wrap="square" lIns="0" tIns="0" rIns="0" bIns="0" rtlCol="0" anchor="t"/>
          <a:lstStyle/>
          <a:p>
            <a:pPr indent="0" marL="0">
              <a:buNone/>
            </a:pPr>
            <a:r>
              <a:rPr lang="en-US" sz="2200" b="1" dirty="0">
                <a:solidFill>
                  <a:schemeClr val="accent2"/>
                </a:solidFill>
              </a:rPr>
              <a:t>−2° … −3°</a:t>
            </a:r>
            <a:endParaRPr lang="en-US" sz="2200" dirty="0"/>
          </a:p>
        </p:txBody>
      </p:sp>
      <p:sp>
        <p:nvSpPr>
          <p:cNvPr id="12" name="Text 10"/>
          <p:cNvSpPr txBox="1"/>
          <p:nvPr/>
        </p:nvSpPr>
        <p:spPr>
          <a:xfrm>
            <a:off x="9144000" y="4389120"/>
            <a:ext cx="2270455" cy="1691640"/>
          </a:xfrm>
          <a:prstGeom prst="rect">
            <a:avLst/>
          </a:prstGeom>
          <a:noFill/>
          <a:ln/>
        </p:spPr>
        <p:txBody>
          <a:bodyPr wrap="square" lIns="0" tIns="0" rIns="0" bIns="0" rtlCol="0" anchor="t"/>
          <a:lstStyle/>
          <a:p>
            <a:pPr indent="0" marL="0">
              <a:buNone/>
            </a:pPr>
            <a:r>
              <a:rPr lang="en-US" sz="1200" dirty="0">
                <a:solidFill>
                  <a:schemeClr val="tx1"/>
                </a:solidFill>
              </a:rPr>
              <a:t>Vòng giữ hướng chỉ có khâu P (KP = 3) nên góc còn sai số tĩnh ~2–3°, xe vẫn lệch đều nhưng nhỏ hơn khoảng 5 lần.</a:t>
            </a:r>
            <a:endParaRPr lang="en-US" sz="1200" dirty="0"/>
          </a:p>
        </p:txBody>
      </p:sp>
      <p:sp>
        <p:nvSpPr>
          <p:cNvPr id="14" name="Text 0"/>
          <p:cNvSpPr/>
          <p:nvPr>
            <p:ph idx="102" hasCustomPrompt="1"/>
          </p:nvPr>
        </p:nvSpPr>
        <p:spPr>
          <a:xfrm>
            <a:off x="548640" y="1463040"/>
            <a:ext cx="8092440" cy="4709160"/>
          </a:xfrm>
          <a:prstGeom prst="rect">
            <a:avLst/>
          </a:prstGeom>
          <a:noFill/>
          <a:ln/>
        </p:spPr>
        <p:txBody>
          <a:bodyPr wrap="square" rtlCol="0"/>
          <a:lstStyle/>
          <a:p>
            <a:pPr indent="0" marL="0">
              <a:buNone/>
            </a:pP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3 · EKF + CAMERA · 18/10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EKF: 9 lần, 7 lần nằm trong hành lang ±50 mm</a:t>
            </a:r>
            <a:endParaRPr lang="en-US" sz="3000" dirty="0"/>
          </a:p>
        </p:txBody>
      </p:sp>
      <p:sp>
        <p:nvSpPr>
          <p:cNvPr id="4" name="Text 2"/>
          <p:cNvSpPr txBox="1"/>
          <p:nvPr/>
        </p:nvSpPr>
        <p:spPr>
          <a:xfrm>
            <a:off x="548640" y="6217920"/>
            <a:ext cx="8092440" cy="228600"/>
          </a:xfrm>
          <a:prstGeom prst="rect">
            <a:avLst/>
          </a:prstGeom>
          <a:noFill/>
          <a:ln/>
        </p:spPr>
        <p:txBody>
          <a:bodyPr wrap="square" lIns="0" tIns="0" rIns="0" bIns="0" rtlCol="0" anchor="t"/>
          <a:lstStyle/>
          <a:p>
            <a:pPr indent="0" marL="0">
              <a:buNone/>
            </a:pPr>
            <a:r>
              <a:rPr lang="en-US" sz="1000" dirty="0">
                <a:solidFill>
                  <a:schemeClr val="tx2"/>
                </a:solidFill>
              </a:rPr>
              <a:t>Hình: chạy plot_slide_3_tests.m → Figure 3 (EKF)</a:t>
            </a:r>
            <a:endParaRPr lang="en-US" sz="1000" dirty="0"/>
          </a:p>
        </p:txBody>
      </p:sp>
      <p:sp>
        <p:nvSpPr>
          <p:cNvPr id="5" name="cot chi so"/>
          <p:cNvSpPr/>
          <p:nvPr/>
        </p:nvSpPr>
        <p:spPr>
          <a:xfrm>
            <a:off x="8915400" y="1463040"/>
            <a:ext cx="2727655" cy="4709160"/>
          </a:xfrm>
          <a:prstGeom prst="roundRect">
            <a:avLst>
              <a:gd name="adj" fmla="val 3352"/>
            </a:avLst>
          </a:prstGeom>
          <a:solidFill>
            <a:schemeClr val="bg2"/>
          </a:solidFill>
          <a:ln/>
        </p:spPr>
      </p:sp>
      <p:sp>
        <p:nvSpPr>
          <p:cNvPr id="6"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|y| cuối, 7 lần hợp lệ</a:t>
            </a:r>
            <a:endParaRPr lang="en-US" sz="1200" dirty="0"/>
          </a:p>
        </p:txBody>
      </p:sp>
      <p:sp>
        <p:nvSpPr>
          <p:cNvPr id="7"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3"/>
                </a:solidFill>
              </a:rPr>
              <a:t>8 mm</a:t>
            </a:r>
            <a:endParaRPr lang="en-US" sz="2200" dirty="0"/>
          </a:p>
        </p:txBody>
      </p:sp>
      <p:sp>
        <p:nvSpPr>
          <p:cNvPr id="8"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RMS lệch ngang</a:t>
            </a:r>
            <a:endParaRPr lang="en-US" sz="1200" dirty="0"/>
          </a:p>
        </p:txBody>
      </p:sp>
      <p:sp>
        <p:nvSpPr>
          <p:cNvPr id="9"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3"/>
                </a:solidFill>
              </a:rPr>
              <a:t>15 mm</a:t>
            </a:r>
            <a:endParaRPr lang="en-US" sz="2200" dirty="0"/>
          </a:p>
        </p:txBody>
      </p:sp>
      <p:sp>
        <p:nvSpPr>
          <p:cNvPr id="10" name="Text 8"/>
          <p:cNvSpPr txBox="1"/>
          <p:nvPr/>
        </p:nvSpPr>
        <p:spPr>
          <a:xfrm>
            <a:off x="9144000" y="3474720"/>
            <a:ext cx="2270455" cy="256032"/>
          </a:xfrm>
          <a:prstGeom prst="rect">
            <a:avLst/>
          </a:prstGeom>
          <a:noFill/>
          <a:ln/>
        </p:spPr>
        <p:txBody>
          <a:bodyPr wrap="square" lIns="0" tIns="0" rIns="0" bIns="0" rtlCol="0" anchor="t"/>
          <a:lstStyle/>
          <a:p>
            <a:pPr indent="0" marL="0">
              <a:buNone/>
            </a:pPr>
            <a:r>
              <a:rPr lang="en-US" sz="1200" dirty="0">
                <a:solidFill>
                  <a:schemeClr val="tx2"/>
                </a:solidFill>
              </a:rPr>
              <a:t>Vượt đích</a:t>
            </a:r>
            <a:endParaRPr lang="en-US" sz="1200" dirty="0"/>
          </a:p>
        </p:txBody>
      </p:sp>
      <p:sp>
        <p:nvSpPr>
          <p:cNvPr id="11" name="Text 9"/>
          <p:cNvSpPr txBox="1"/>
          <p:nvPr/>
        </p:nvSpPr>
        <p:spPr>
          <a:xfrm>
            <a:off x="9144000" y="3749040"/>
            <a:ext cx="2270455" cy="457200"/>
          </a:xfrm>
          <a:prstGeom prst="rect">
            <a:avLst/>
          </a:prstGeom>
          <a:noFill/>
          <a:ln/>
        </p:spPr>
        <p:txBody>
          <a:bodyPr wrap="square" lIns="0" tIns="0" rIns="0" bIns="0" rtlCol="0" anchor="t"/>
          <a:lstStyle/>
          <a:p>
            <a:pPr indent="0" marL="0">
              <a:buNone/>
            </a:pPr>
            <a:r>
              <a:rPr lang="en-US" sz="2200" b="1" dirty="0">
                <a:solidFill>
                  <a:schemeClr val="accent3"/>
                </a:solidFill>
              </a:rPr>
              <a:t>38 … 164 mm</a:t>
            </a:r>
            <a:endParaRPr lang="en-US" sz="2200" dirty="0"/>
          </a:p>
        </p:txBody>
      </p:sp>
      <p:sp>
        <p:nvSpPr>
          <p:cNvPr id="12" name="Text 10"/>
          <p:cNvSpPr txBox="1"/>
          <p:nvPr/>
        </p:nvSpPr>
        <p:spPr>
          <a:xfrm>
            <a:off x="9144000" y="4389120"/>
            <a:ext cx="2270455" cy="1691640"/>
          </a:xfrm>
          <a:prstGeom prst="rect">
            <a:avLst/>
          </a:prstGeom>
          <a:noFill/>
          <a:ln/>
        </p:spPr>
        <p:txBody>
          <a:bodyPr wrap="square" lIns="0" tIns="0" rIns="0" bIns="0" rtlCol="0" anchor="t"/>
          <a:lstStyle/>
          <a:p>
            <a:pPr indent="0" marL="0">
              <a:buNone/>
            </a:pPr>
            <a:r>
              <a:rPr lang="en-US" sz="1200" dirty="0">
                <a:solidFill>
                  <a:schemeClr val="tx1"/>
                </a:solidFill>
              </a:rPr>
              <a:t>Lần 6, 9 (nét đứt xám): server camera treo, không có vị trí thật lúc dừng. Tọa độ: camera trần.</a:t>
            </a:r>
            <a:endParaRPr lang="en-US" sz="1200" dirty="0"/>
          </a:p>
        </p:txBody>
      </p:sp>
      <p:sp>
        <p:nvSpPr>
          <p:cNvPr id="14" name="Text 0"/>
          <p:cNvSpPr/>
          <p:nvPr>
            <p:ph idx="102" hasCustomPrompt="1"/>
          </p:nvPr>
        </p:nvSpPr>
        <p:spPr>
          <a:xfrm>
            <a:off x="548640" y="1463040"/>
            <a:ext cx="8092440" cy="4709160"/>
          </a:xfrm>
          <a:prstGeom prst="rect">
            <a:avLst/>
          </a:prstGeom>
          <a:noFill/>
          <a:ln/>
        </p:spPr>
        <p:txBody>
          <a:bodyPr wrap="square" rtlCol="0"/>
          <a:lstStyle/>
          <a:p>
            <a:pPr indent="0" marL="0">
              <a:buNone/>
            </a:pP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SO SÁNH 3 BÀI · LẦN CHẠY TỐT NHẤT</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Lần tốt nhất của mỗi bài trên cùng một đường cơ sở</a:t>
            </a:r>
            <a:endParaRPr lang="en-US" sz="3000" dirty="0"/>
          </a:p>
        </p:txBody>
      </p:sp>
      <p:sp>
        <p:nvSpPr>
          <p:cNvPr id="4" name="Text 2"/>
          <p:cNvSpPr txBox="1"/>
          <p:nvPr/>
        </p:nvSpPr>
        <p:spPr>
          <a:xfrm>
            <a:off x="548640" y="6217920"/>
            <a:ext cx="8092440" cy="228600"/>
          </a:xfrm>
          <a:prstGeom prst="rect">
            <a:avLst/>
          </a:prstGeom>
          <a:noFill/>
          <a:ln/>
        </p:spPr>
        <p:txBody>
          <a:bodyPr wrap="square" lIns="0" tIns="0" rIns="0" bIns="0" rtlCol="0" anchor="t"/>
          <a:lstStyle/>
          <a:p>
            <a:pPr indent="0" marL="0">
              <a:buNone/>
            </a:pPr>
            <a:r>
              <a:rPr lang="en-US" sz="1000" dirty="0">
                <a:solidFill>
                  <a:schemeClr val="tx2"/>
                </a:solidFill>
              </a:rPr>
              <a:t>Hình: chạy plot_slide_3_tests.m → Figure 4 (so sánh lần tốt nhất)</a:t>
            </a:r>
            <a:endParaRPr lang="en-US" sz="1000" dirty="0"/>
          </a:p>
        </p:txBody>
      </p:sp>
      <p:sp>
        <p:nvSpPr>
          <p:cNvPr id="5" name="cot chi so"/>
          <p:cNvSpPr/>
          <p:nvPr/>
        </p:nvSpPr>
        <p:spPr>
          <a:xfrm>
            <a:off x="8915400" y="1463040"/>
            <a:ext cx="2727655" cy="4709160"/>
          </a:xfrm>
          <a:prstGeom prst="roundRect">
            <a:avLst>
              <a:gd name="adj" fmla="val 3352"/>
            </a:avLst>
          </a:prstGeom>
          <a:solidFill>
            <a:schemeClr val="bg2"/>
          </a:solidFill>
          <a:ln/>
        </p:spPr>
      </p:sp>
      <p:sp>
        <p:nvSpPr>
          <p:cNvPr id="6"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Lệch ngang cuối</a:t>
            </a:r>
            <a:endParaRPr lang="en-US" sz="1200" dirty="0"/>
          </a:p>
        </p:txBody>
      </p:sp>
      <p:sp>
        <p:nvSpPr>
          <p:cNvPr id="7"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232</a:t>
            </a:r>
            <a:pPr indent="0" marL="0">
              <a:buNone/>
            </a:pPr>
            <a:r>
              <a:rPr lang="en-US" sz="2200" b="1" dirty="0">
                <a:solidFill>
                  <a:schemeClr val="tx1"/>
                </a:solidFill>
              </a:rPr>
              <a:t> · </a:t>
            </a:r>
            <a:pPr indent="0" marL="0">
              <a:buNone/>
            </a:pPr>
            <a:r>
              <a:rPr lang="en-US" sz="2200" b="1" dirty="0">
                <a:solidFill>
                  <a:schemeClr val="accent2"/>
                </a:solidFill>
              </a:rPr>
              <a:t>40</a:t>
            </a:r>
            <a:pPr indent="0" marL="0">
              <a:buNone/>
            </a:pPr>
            <a:r>
              <a:rPr lang="en-US" sz="2200" b="1" dirty="0">
                <a:solidFill>
                  <a:schemeClr val="tx1"/>
                </a:solidFill>
              </a:rPr>
              <a:t> · </a:t>
            </a:r>
            <a:pPr indent="0" marL="0">
              <a:buNone/>
            </a:pPr>
            <a:r>
              <a:rPr lang="en-US" sz="2200" b="1" dirty="0">
                <a:solidFill>
                  <a:schemeClr val="accent3"/>
                </a:solidFill>
              </a:rPr>
              <a:t>4</a:t>
            </a:r>
            <a:pPr indent="0" marL="0">
              <a:buNone/>
            </a:pPr>
            <a:r>
              <a:rPr lang="en-US" sz="2200" b="1" dirty="0">
                <a:solidFill>
                  <a:schemeClr val="tx1"/>
                </a:solidFill>
              </a:rPr>
              <a:t> mm</a:t>
            </a:r>
            <a:endParaRPr lang="en-US" sz="2200" dirty="0"/>
          </a:p>
        </p:txBody>
      </p:sp>
      <p:sp>
        <p:nvSpPr>
          <p:cNvPr id="8"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Cách đích (3000; 0)</a:t>
            </a:r>
            <a:endParaRPr lang="en-US" sz="1200" dirty="0"/>
          </a:p>
        </p:txBody>
      </p:sp>
      <p:sp>
        <p:nvSpPr>
          <p:cNvPr id="9"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238</a:t>
            </a:r>
            <a:pPr indent="0" marL="0">
              <a:buNone/>
            </a:pPr>
            <a:r>
              <a:rPr lang="en-US" sz="2200" b="1" dirty="0">
                <a:solidFill>
                  <a:schemeClr val="tx1"/>
                </a:solidFill>
              </a:rPr>
              <a:t> · </a:t>
            </a:r>
            <a:pPr indent="0" marL="0">
              <a:buNone/>
            </a:pPr>
            <a:r>
              <a:rPr lang="en-US" sz="2200" b="1" dirty="0">
                <a:solidFill>
                  <a:schemeClr val="accent2"/>
                </a:solidFill>
              </a:rPr>
              <a:t>81</a:t>
            </a:r>
            <a:pPr indent="0" marL="0">
              <a:buNone/>
            </a:pPr>
            <a:r>
              <a:rPr lang="en-US" sz="2200" b="1" dirty="0">
                <a:solidFill>
                  <a:schemeClr val="tx1"/>
                </a:solidFill>
              </a:rPr>
              <a:t> · </a:t>
            </a:r>
            <a:pPr indent="0" marL="0">
              <a:buNone/>
            </a:pPr>
            <a:r>
              <a:rPr lang="en-US" sz="2200" b="1" dirty="0">
                <a:solidFill>
                  <a:schemeClr val="accent3"/>
                </a:solidFill>
              </a:rPr>
              <a:t>45</a:t>
            </a:r>
            <a:pPr indent="0" marL="0">
              <a:buNone/>
            </a:pPr>
            <a:r>
              <a:rPr lang="en-US" sz="2200" b="1" dirty="0">
                <a:solidFill>
                  <a:schemeClr val="tx1"/>
                </a:solidFill>
              </a:rPr>
              <a:t> mm</a:t>
            </a:r>
            <a:endParaRPr lang="en-US" sz="2200" dirty="0"/>
          </a:p>
        </p:txBody>
      </p:sp>
      <p:sp>
        <p:nvSpPr>
          <p:cNvPr id="10" name="Text 8"/>
          <p:cNvSpPr txBox="1"/>
          <p:nvPr/>
        </p:nvSpPr>
        <p:spPr>
          <a:xfrm>
            <a:off x="9144000" y="3566160"/>
            <a:ext cx="2270455" cy="2377440"/>
          </a:xfrm>
          <a:prstGeom prst="rect">
            <a:avLst/>
          </a:prstGeom>
          <a:noFill/>
          <a:ln/>
        </p:spPr>
        <p:txBody>
          <a:bodyPr wrap="square" lIns="0" tIns="0" rIns="0" bIns="0" rtlCol="0" anchor="t"/>
          <a:lstStyle/>
          <a:p>
            <a:pPr indent="0" marL="0">
              <a:spcAft>
                <a:spcPts val="800"/>
              </a:spcAft>
              <a:buNone/>
            </a:pPr>
            <a:r>
              <a:rPr lang="en-US" sz="1200" b="1" dirty="0">
                <a:solidFill>
                  <a:schemeClr val="tx1"/>
                </a:solidFill>
              </a:rPr>
              <a:t>Lần tốt nhất</a:t>
            </a:r>
            <a:pPr indent="0" marL="0">
              <a:spcAft>
                <a:spcPts val="800"/>
              </a:spcAft>
              <a:buNone/>
            </a:pPr>
            <a:r>
              <a:rPr lang="en-US" sz="1200" dirty="0">
                <a:solidFill>
                  <a:schemeClr val="tx1"/>
                </a:solidFill>
              </a:rPr>
              <a:t> = nhỏ nhất (RMS lệch ngang + khoảng cách tới đích): encoder lần 3, IMU lần 2, EKF lần 4.</a:t>
            </a:r>
            <a:endParaRPr lang="en-US" sz="1200" dirty="0"/>
          </a:p>
          <a:p>
            <a:pPr indent="0" marL="0">
              <a:spcAft>
                <a:spcPts val="800"/>
              </a:spcAft>
              <a:buNone/>
            </a:pPr>
            <a:r>
              <a:rPr lang="en-US" sz="1200" dirty="0">
                <a:solidFill>
                  <a:schemeClr val="tx1"/>
                </a:solidFill>
              </a:rPr>
              <a:t>Encoder, IMU: odometry của robot; EKF: camera.</a:t>
            </a:r>
            <a:endParaRPr lang="en-US" sz="1200" dirty="0"/>
          </a:p>
        </p:txBody>
      </p:sp>
      <p:sp>
        <p:nvSpPr>
          <p:cNvPr id="12" name="Text 0"/>
          <p:cNvSpPr/>
          <p:nvPr>
            <p:ph idx="102" hasCustomPrompt="1"/>
          </p:nvPr>
        </p:nvSpPr>
        <p:spPr>
          <a:xfrm>
            <a:off x="548640" y="1463040"/>
            <a:ext cx="8092440" cy="4709160"/>
          </a:xfrm>
          <a:prstGeom prst="rect">
            <a:avLst/>
          </a:prstGeom>
          <a:noFill/>
          <a:ln/>
        </p:spPr>
        <p:txBody>
          <a:bodyPr wrap="square" rtlCol="0"/>
          <a:lstStyle/>
          <a:p>
            <a:pPr indent="0" marL="0">
              <a:buNone/>
            </a:pP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SO SÁNH 3 CÁCH · BẢNG</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Bảng tổng hợp, trung bình ± độ lệch chuẩn</a:t>
            </a:r>
            <a:endParaRPr lang="en-US" sz="3000" dirty="0"/>
          </a:p>
        </p:txBody>
      </p:sp>
      <p:graphicFrame>
        <p:nvGraphicFramePr>
          <p:cNvPr id="11" name="bang tong hop"/>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413455"/>
                <a:gridCol w="2560320"/>
                <a:gridCol w="2560320"/>
                <a:gridCol w="2560320"/>
              </a:tblGrid>
              <a:tr h="502920">
                <a:tc>
                  <a:txBody>
                    <a:bodyPr/>
                    <a:lstStyle/>
                    <a:p>
                      <a:pPr algn="l" indent="0" marL="0">
                        <a:buNone/>
                      </a:pPr>
                      <a:r>
                        <a:rPr lang="en-US" sz="1600" b="1" dirty="0">
                          <a:solidFill>
                            <a:schemeClr val="bg1"/>
                          </a:solidFill>
                          <a:latin typeface="Arial" pitchFamily="34" charset="0"/>
                          <a:ea typeface="Arial" pitchFamily="34" charset="-122"/>
                          <a:cs typeface="Arial" pitchFamily="34" charset="-120"/>
                        </a:rPr>
                        <a:t>Chỉ số</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Arial" pitchFamily="34" charset="0"/>
                          <a:ea typeface="Arial" pitchFamily="34" charset="-122"/>
                          <a:cs typeface="Arial" pitchFamily="34" charset="-120"/>
                        </a:rPr>
                        <a:t>Thuần encoder</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Arial" pitchFamily="34" charset="0"/>
                          <a:ea typeface="Arial" pitchFamily="34" charset="-122"/>
                          <a:cs typeface="Arial" pitchFamily="34" charset="-120"/>
                        </a:rPr>
                        <a:t>Encoder + IMU</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Arial" pitchFamily="34" charset="0"/>
                          <a:ea typeface="Arial" pitchFamily="34" charset="-122"/>
                          <a:cs typeface="Arial" pitchFamily="34" charset="-120"/>
                        </a:rPr>
                        <a:t>EKF</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Lệch ngang cuối</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366 ± 157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66 ± 15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8 ± 7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RMS lệch ngang</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156 ± 72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35 ± 8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15 ± 14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Trong hành lang ±50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45 %</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81 %</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95 %</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Góc cuối</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14,9°</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1,8°</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1,9°</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Cách đích (3000; 0)</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374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98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106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bl>
          </a:graphicData>
        </a:graphic>
      </p:graphicFrame>
      <p:sp>
        <p:nvSpPr>
          <p:cNvPr id="5" name="nhan xet bang"/>
          <p:cNvSpPr/>
          <p:nvPr/>
        </p:nvSpPr>
        <p:spPr>
          <a:xfrm>
            <a:off x="548640" y="4800600"/>
            <a:ext cx="11094415" cy="1051560"/>
          </a:xfrm>
          <a:prstGeom prst="roundRect">
            <a:avLst>
              <a:gd name="adj" fmla="val 8696"/>
            </a:avLst>
          </a:prstGeom>
          <a:solidFill>
            <a:schemeClr val="bg2"/>
          </a:solidFill>
          <a:ln/>
        </p:spPr>
      </p:sp>
      <p:sp>
        <p:nvSpPr>
          <p:cNvPr id="6" name="Text 3"/>
          <p:cNvSpPr txBox="1"/>
          <p:nvPr/>
        </p:nvSpPr>
        <p:spPr>
          <a:xfrm>
            <a:off x="868680" y="4892040"/>
            <a:ext cx="10454335" cy="868680"/>
          </a:xfrm>
          <a:prstGeom prst="rect">
            <a:avLst/>
          </a:prstGeom>
          <a:noFill/>
          <a:ln/>
        </p:spPr>
        <p:txBody>
          <a:bodyPr wrap="square" lIns="0" tIns="0" rIns="0" bIns="0" rtlCol="0" anchor="ctr"/>
          <a:lstStyle/>
          <a:p>
            <a:pPr indent="0" marL="0">
              <a:buNone/>
            </a:pPr>
            <a:r>
              <a:rPr lang="en-US" sz="1700" dirty="0">
                <a:solidFill>
                  <a:schemeClr val="tx1"/>
                </a:solidFill>
              </a:rPr>
              <a:t>EKF thắng rõ về lệch ngang, nhưng </a:t>
            </a:r>
            <a:pPr indent="0" marL="0">
              <a:buNone/>
            </a:pPr>
            <a:r>
              <a:rPr lang="en-US" sz="1700" b="1" dirty="0">
                <a:solidFill>
                  <a:schemeClr val="tx1"/>
                </a:solidFill>
              </a:rPr>
              <a:t>cách đích</a:t>
            </a:r>
            <a:pPr indent="0" marL="0">
              <a:buNone/>
            </a:pPr>
            <a:r>
              <a:rPr lang="en-US" sz="1700" dirty="0">
                <a:solidFill>
                  <a:schemeClr val="tx1"/>
                </a:solidFill>
              </a:rPr>
              <a:t> lại không hơn IMU, vì xe </a:t>
            </a:r>
            <a:pPr indent="0" marL="0">
              <a:buNone/>
            </a:pPr>
            <a:r>
              <a:rPr lang="en-US" sz="1700" b="1" dirty="0">
                <a:solidFill>
                  <a:schemeClr val="accent4"/>
                </a:solidFill>
              </a:rPr>
              <a:t>vượt đích</a:t>
            </a:r>
            <a:pPr indent="0" marL="0">
              <a:buNone/>
            </a:pPr>
            <a:r>
              <a:rPr lang="en-US" sz="1700" dirty="0">
                <a:solidFill>
                  <a:schemeClr val="tx1"/>
                </a:solidFill>
              </a:rPr>
              <a:t> trung bình 105 mm.</a:t>
            </a:r>
            <a:endParaRPr lang="en-US" sz="1700" dirty="0"/>
          </a:p>
        </p:txBody>
      </p:sp>
      <p:sp>
        <p:nvSpPr>
          <p:cNvPr id="7" name="Text 4"/>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chemeClr val="tx2"/>
                </a:solidFill>
              </a:rPr>
              <a:t>7 bộ ba (bỏ 2 lần EKF lỗi camera) · compare_3_methods.m · bài 1, 2: odometry; bài 3: camera</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SỰ CỐ · LẦN 6 VÀ 9 NGÀY 18/10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Khi server camera treo, xe chạy quá đích hơn 1 m</a:t>
            </a:r>
            <a:endParaRPr lang="en-US" sz="3000" dirty="0"/>
          </a:p>
        </p:txBody>
      </p:sp>
      <p:sp>
        <p:nvSpPr>
          <p:cNvPr id="4" name="khung ekf_loi_cam.png"/>
          <p:cNvSpPr/>
          <p:nvPr/>
        </p:nvSpPr>
        <p:spPr>
          <a:xfrm>
            <a:off x="548640" y="1463040"/>
            <a:ext cx="6949440" cy="4709160"/>
          </a:xfrm>
          <a:prstGeom prst="roundRect">
            <a:avLst>
              <a:gd name="adj" fmla="val 1553"/>
            </a:avLst>
          </a:prstGeom>
          <a:solidFill>
            <a:schemeClr val="bg2"/>
          </a:solidFill>
          <a:ln/>
        </p:spPr>
      </p:sp>
      <p:pic>
        <p:nvPicPr>
          <p:cNvPr id="5" name="ekf_loi_cam.png" descr="Quãng đường theo thời gian của lần 6 và 9: camera đứng yên vài giây, EKF tụt về số liệu cũ, encoder cho thấy xe đã chạy 4–5 m">    </p:cNvPr>
          <p:cNvPicPr>
            <a:picLocks noChangeAspect="1"/>
          </p:cNvPicPr>
          <p:nvPr/>
        </p:nvPicPr>
        <p:blipFill>
          <a:blip r:embed="rId1"/>
          <a:stretch>
            <a:fillRect/>
          </a:stretch>
        </p:blipFill>
        <p:spPr>
          <a:xfrm>
            <a:off x="548640" y="1591003"/>
            <a:ext cx="6949440" cy="4453233"/>
          </a:xfrm>
          <a:prstGeom prst="rect">
            <a:avLst/>
          </a:prstGeom>
        </p:spPr>
      </p:pic>
      <p:sp>
        <p:nvSpPr>
          <p:cNvPr id="6" name="cham mau"/>
          <p:cNvSpPr/>
          <p:nvPr/>
        </p:nvSpPr>
        <p:spPr>
          <a:xfrm>
            <a:off x="7818120" y="1600200"/>
            <a:ext cx="384048" cy="384048"/>
          </a:xfrm>
          <a:prstGeom prst="ellipse">
            <a:avLst/>
          </a:prstGeom>
          <a:solidFill>
            <a:schemeClr val="accent4"/>
          </a:solidFill>
          <a:ln/>
        </p:spPr>
      </p:sp>
      <p:sp>
        <p:nvSpPr>
          <p:cNvPr id="7" name="Text 4"/>
          <p:cNvSpPr txBox="1"/>
          <p:nvPr/>
        </p:nvSpPr>
        <p:spPr>
          <a:xfrm>
            <a:off x="7818120"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366760" y="1581912"/>
            <a:ext cx="3276295" cy="1280160"/>
          </a:xfrm>
          <a:prstGeom prst="rect">
            <a:avLst/>
          </a:prstGeom>
          <a:noFill/>
          <a:ln/>
        </p:spPr>
        <p:txBody>
          <a:bodyPr wrap="square" lIns="0" tIns="0" rIns="0" bIns="0" rtlCol="0" anchor="t"/>
          <a:lstStyle/>
          <a:p>
            <a:pPr indent="0" marL="0">
              <a:buNone/>
            </a:pPr>
            <a:r>
              <a:rPr lang="en-US" sz="1600" dirty="0">
                <a:solidFill>
                  <a:schemeClr val="tx1"/>
                </a:solidFill>
              </a:rPr>
              <a:t>Camera gửi mãi một khung (đường đỏ nằm ngang), rồi dồn về cả ~3,6 s một lúc.</a:t>
            </a:r>
            <a:endParaRPr lang="en-US" sz="1600" dirty="0"/>
          </a:p>
        </p:txBody>
      </p:sp>
      <p:sp>
        <p:nvSpPr>
          <p:cNvPr id="9" name="cham mau"/>
          <p:cNvSpPr/>
          <p:nvPr/>
        </p:nvSpPr>
        <p:spPr>
          <a:xfrm>
            <a:off x="7818120" y="3108960"/>
            <a:ext cx="384048" cy="384048"/>
          </a:xfrm>
          <a:prstGeom prst="ellipse">
            <a:avLst/>
          </a:prstGeom>
          <a:solidFill>
            <a:schemeClr val="accent4"/>
          </a:solidFill>
          <a:ln/>
        </p:spPr>
      </p:sp>
      <p:sp>
        <p:nvSpPr>
          <p:cNvPr id="10" name="Text 7"/>
          <p:cNvSpPr txBox="1"/>
          <p:nvPr/>
        </p:nvSpPr>
        <p:spPr>
          <a:xfrm>
            <a:off x="7818120" y="3108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8366760" y="3090672"/>
            <a:ext cx="3276295" cy="1280160"/>
          </a:xfrm>
          <a:prstGeom prst="rect">
            <a:avLst/>
          </a:prstGeom>
          <a:noFill/>
          <a:ln/>
        </p:spPr>
        <p:txBody>
          <a:bodyPr wrap="square" lIns="0" tIns="0" rIns="0" bIns="0" rtlCol="0" anchor="t"/>
          <a:lstStyle/>
          <a:p>
            <a:pPr indent="0" marL="0">
              <a:buNone/>
            </a:pPr>
            <a:r>
              <a:rPr lang="en-US" sz="1600" dirty="0">
                <a:solidFill>
                  <a:schemeClr val="tx1"/>
                </a:solidFill>
              </a:rPr>
              <a:t>EKF nạp lại theo số liệu cũ, tụt sau xe thật hơn 1,5 m (đường xanh rơi xuống).</a:t>
            </a:r>
            <a:endParaRPr lang="en-US" sz="1600" dirty="0"/>
          </a:p>
        </p:txBody>
      </p:sp>
      <p:sp>
        <p:nvSpPr>
          <p:cNvPr id="12" name="cham mau"/>
          <p:cNvSpPr/>
          <p:nvPr/>
        </p:nvSpPr>
        <p:spPr>
          <a:xfrm>
            <a:off x="7818120" y="4617720"/>
            <a:ext cx="384048" cy="384048"/>
          </a:xfrm>
          <a:prstGeom prst="ellipse">
            <a:avLst/>
          </a:prstGeom>
          <a:solidFill>
            <a:schemeClr val="accent4"/>
          </a:solidFill>
          <a:ln/>
        </p:spPr>
      </p:sp>
      <p:sp>
        <p:nvSpPr>
          <p:cNvPr id="13" name="Text 10"/>
          <p:cNvSpPr txBox="1"/>
          <p:nvPr/>
        </p:nvSpPr>
        <p:spPr>
          <a:xfrm>
            <a:off x="7818120" y="46177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366760" y="4599432"/>
            <a:ext cx="3276295" cy="1280160"/>
          </a:xfrm>
          <a:prstGeom prst="rect">
            <a:avLst/>
          </a:prstGeom>
          <a:noFill/>
          <a:ln/>
        </p:spPr>
        <p:txBody>
          <a:bodyPr wrap="square" lIns="0" tIns="0" rIns="0" bIns="0" rtlCol="0" anchor="t"/>
          <a:lstStyle/>
          <a:p>
            <a:pPr indent="0" marL="0">
              <a:buNone/>
            </a:pPr>
            <a:r>
              <a:rPr lang="en-US" sz="1600" dirty="0">
                <a:solidFill>
                  <a:schemeClr val="tx1"/>
                </a:solidFill>
              </a:rPr>
              <a:t>Xe chạy tiếp tới khi EKF báo đủ 3 m: thực tế </a:t>
            </a:r>
            <a:pPr indent="0" marL="0">
              <a:buNone/>
            </a:pPr>
            <a:r>
              <a:rPr lang="en-US" sz="1600" b="1" dirty="0">
                <a:solidFill>
                  <a:schemeClr val="tx1"/>
                </a:solidFill>
              </a:rPr>
              <a:t>4,7 m</a:t>
            </a:r>
            <a:pPr indent="0" marL="0">
              <a:buNone/>
            </a:pPr>
            <a:r>
              <a:rPr lang="en-US" sz="1600" dirty="0">
                <a:solidFill>
                  <a:schemeClr val="tx1"/>
                </a:solidFill>
              </a:rPr>
              <a:t> và </a:t>
            </a:r>
            <a:pPr indent="0" marL="0">
              <a:buNone/>
            </a:pPr>
            <a:r>
              <a:rPr lang="en-US" sz="1600" b="1" dirty="0">
                <a:solidFill>
                  <a:schemeClr val="tx1"/>
                </a:solidFill>
              </a:rPr>
              <a:t>4,0 m</a:t>
            </a:r>
            <a:pPr indent="0" marL="0">
              <a:buNone/>
            </a:pP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SỬA LỖI · CHẠY LẠI 19/10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Vượt đích do nạp lại không bù trễ</a:t>
            </a:r>
            <a:endParaRPr lang="en-US" sz="3000" dirty="0"/>
          </a:p>
        </p:txBody>
      </p:sp>
      <p:sp>
        <p:nvSpPr>
          <p:cNvPr id="4" name="khung ekf_sua.png"/>
          <p:cNvSpPr/>
          <p:nvPr/>
        </p:nvSpPr>
        <p:spPr>
          <a:xfrm>
            <a:off x="548640" y="1463040"/>
            <a:ext cx="6309360" cy="4709160"/>
          </a:xfrm>
          <a:prstGeom prst="roundRect">
            <a:avLst>
              <a:gd name="adj" fmla="val 1553"/>
            </a:avLst>
          </a:prstGeom>
          <a:solidFill>
            <a:schemeClr val="bg2"/>
          </a:solidFill>
          <a:ln/>
        </p:spPr>
      </p:sp>
      <p:pic>
        <p:nvPicPr>
          <p:cNvPr id="5" name="ekf_sua.png" descr="So sánh trước và sau sửa: vượt đích trung bình 105 mm còn 30 mm, khung camera bị loại 25 % còn 7 %">    </p:cNvPr>
          <p:cNvPicPr>
            <a:picLocks noChangeAspect="1"/>
          </p:cNvPicPr>
          <p:nvPr/>
        </p:nvPicPr>
        <p:blipFill>
          <a:blip r:embed="rId1"/>
          <a:stretch>
            <a:fillRect/>
          </a:stretch>
        </p:blipFill>
        <p:spPr>
          <a:xfrm>
            <a:off x="548640" y="1625742"/>
            <a:ext cx="6309360" cy="4383757"/>
          </a:xfrm>
          <a:prstGeom prst="rect">
            <a:avLst/>
          </a:prstGeom>
        </p:spPr>
      </p:pic>
      <p:sp>
        <p:nvSpPr>
          <p:cNvPr id="6" name="Text 3"/>
          <p:cNvSpPr txBox="1"/>
          <p:nvPr/>
        </p:nvSpPr>
        <p:spPr>
          <a:xfrm>
            <a:off x="7178040" y="1463040"/>
            <a:ext cx="4465015" cy="1097280"/>
          </a:xfrm>
          <a:prstGeom prst="rect">
            <a:avLst/>
          </a:prstGeom>
          <a:noFill/>
          <a:ln/>
        </p:spPr>
        <p:txBody>
          <a:bodyPr wrap="square" lIns="0" tIns="0" rIns="0" bIns="0" rtlCol="0" anchor="t"/>
          <a:lstStyle/>
          <a:p>
            <a:pPr indent="0" marL="0">
              <a:buNone/>
            </a:pPr>
            <a:r>
              <a:rPr lang="en-US" sz="1600" b="1" dirty="0">
                <a:solidFill>
                  <a:schemeClr val="tx1"/>
                </a:solidFill>
              </a:rPr>
              <a:t>Lỗi: </a:t>
            </a:r>
            <a:pPr indent="0" marL="0">
              <a:buNone/>
            </a:pPr>
            <a:r>
              <a:rPr lang="en-US" sz="1600" dirty="0">
                <a:solidFill>
                  <a:schemeClr val="tx1"/>
                </a:solidFill>
              </a:rPr>
              <a:t>nạp lại gán khung camera cũ ~200 ms cho hiện tại → EKF tụt sau xe ~10 cm → xe chạy thêm ~10 cm.</a:t>
            </a:r>
            <a:endParaRPr lang="en-US" sz="1600" dirty="0"/>
          </a:p>
        </p:txBody>
      </p:sp>
      <p:sp>
        <p:nvSpPr>
          <p:cNvPr id="7" name="Text 4"/>
          <p:cNvSpPr txBox="1"/>
          <p:nvPr/>
        </p:nvSpPr>
        <p:spPr>
          <a:xfrm>
            <a:off x="7178040" y="2651760"/>
            <a:ext cx="4465015" cy="914400"/>
          </a:xfrm>
          <a:prstGeom prst="rect">
            <a:avLst/>
          </a:prstGeom>
          <a:noFill/>
          <a:ln/>
        </p:spPr>
        <p:txBody>
          <a:bodyPr wrap="square" lIns="0" tIns="0" rIns="0" bIns="0" rtlCol="0" anchor="t"/>
          <a:lstStyle/>
          <a:p>
            <a:pPr indent="0" marL="0">
              <a:buNone/>
            </a:pPr>
            <a:r>
              <a:rPr lang="en-US" sz="1600" b="1" dirty="0">
                <a:solidFill>
                  <a:schemeClr val="tx1"/>
                </a:solidFill>
              </a:rPr>
              <a:t>Sửa: </a:t>
            </a:r>
            <a:pPr indent="0" marL="0">
              <a:buNone/>
            </a:pPr>
            <a:r>
              <a:rPr lang="en-US" sz="1600" dirty="0">
                <a:solidFill>
                  <a:schemeClr val="tx1"/>
                </a:solidFill>
              </a:rPr>
              <a:t>chỉ cộng phần lệch tại thời điểm chụp, dịch cả lịch sử. Giữ nguyên mọi hệ số khác.</a:t>
            </a:r>
            <a:endParaRPr lang="en-US" sz="1600" dirty="0"/>
          </a:p>
        </p:txBody>
      </p:sp>
      <p:sp>
        <p:nvSpPr>
          <p:cNvPr id="8" name="ket qua sua loi"/>
          <p:cNvSpPr/>
          <p:nvPr/>
        </p:nvSpPr>
        <p:spPr>
          <a:xfrm>
            <a:off x="7178040" y="3840480"/>
            <a:ext cx="4465015" cy="2331720"/>
          </a:xfrm>
          <a:prstGeom prst="roundRect">
            <a:avLst>
              <a:gd name="adj" fmla="val 3922"/>
            </a:avLst>
          </a:prstGeom>
          <a:solidFill>
            <a:srgbClr val="E6F4EC"/>
          </a:solidFill>
          <a:ln/>
        </p:spPr>
      </p:sp>
      <p:sp>
        <p:nvSpPr>
          <p:cNvPr id="9" name="Text 6"/>
          <p:cNvSpPr txBox="1"/>
          <p:nvPr/>
        </p:nvSpPr>
        <p:spPr>
          <a:xfrm>
            <a:off x="7498080" y="4069080"/>
            <a:ext cx="3824935" cy="274320"/>
          </a:xfrm>
          <a:prstGeom prst="rect">
            <a:avLst/>
          </a:prstGeom>
          <a:noFill/>
          <a:ln/>
        </p:spPr>
        <p:txBody>
          <a:bodyPr wrap="square" lIns="0" tIns="0" rIns="0" bIns="0" rtlCol="0" anchor="t"/>
          <a:lstStyle/>
          <a:p>
            <a:pPr indent="0" marL="0">
              <a:buNone/>
            </a:pPr>
            <a:r>
              <a:rPr lang="en-US" sz="1200" dirty="0">
                <a:solidFill>
                  <a:schemeClr val="tx2"/>
                </a:solidFill>
              </a:rPr>
              <a:t>Vượt đích trung bình</a:t>
            </a:r>
            <a:endParaRPr lang="en-US" sz="1200" dirty="0"/>
          </a:p>
        </p:txBody>
      </p:sp>
      <p:sp>
        <p:nvSpPr>
          <p:cNvPr id="10" name="Text 7"/>
          <p:cNvSpPr txBox="1"/>
          <p:nvPr/>
        </p:nvSpPr>
        <p:spPr>
          <a:xfrm>
            <a:off x="7498080" y="4361688"/>
            <a:ext cx="3824935" cy="548640"/>
          </a:xfrm>
          <a:prstGeom prst="rect">
            <a:avLst/>
          </a:prstGeom>
          <a:noFill/>
          <a:ln/>
        </p:spPr>
        <p:txBody>
          <a:bodyPr wrap="square" lIns="0" tIns="0" rIns="0" bIns="0" rtlCol="0" anchor="t"/>
          <a:lstStyle/>
          <a:p>
            <a:pPr indent="0" marL="0">
              <a:buNone/>
            </a:pPr>
            <a:r>
              <a:rPr lang="en-US" sz="2800" b="1" dirty="0">
                <a:solidFill>
                  <a:schemeClr val="accent3"/>
                </a:solidFill>
              </a:rPr>
              <a:t>105 → 30 mm</a:t>
            </a:r>
            <a:endParaRPr lang="en-US" sz="2800" dirty="0"/>
          </a:p>
        </p:txBody>
      </p:sp>
      <p:sp>
        <p:nvSpPr>
          <p:cNvPr id="11" name="Text 8"/>
          <p:cNvSpPr txBox="1"/>
          <p:nvPr/>
        </p:nvSpPr>
        <p:spPr>
          <a:xfrm>
            <a:off x="7498080" y="4983480"/>
            <a:ext cx="3824935" cy="274320"/>
          </a:xfrm>
          <a:prstGeom prst="rect">
            <a:avLst/>
          </a:prstGeom>
          <a:noFill/>
          <a:ln/>
        </p:spPr>
        <p:txBody>
          <a:bodyPr wrap="square" lIns="0" tIns="0" rIns="0" bIns="0" rtlCol="0" anchor="t"/>
          <a:lstStyle/>
          <a:p>
            <a:pPr indent="0" marL="0">
              <a:buNone/>
            </a:pPr>
            <a:r>
              <a:rPr lang="en-US" sz="1300" dirty="0">
                <a:solidFill>
                  <a:schemeClr val="tx2"/>
                </a:solidFill>
              </a:rPr>
              <a:t>σ 47 → 6 mm · p = 0,005</a:t>
            </a:r>
            <a:endParaRPr lang="en-US" sz="1300" dirty="0"/>
          </a:p>
        </p:txBody>
      </p:sp>
      <p:sp>
        <p:nvSpPr>
          <p:cNvPr id="12" name="Text 9"/>
          <p:cNvSpPr txBox="1"/>
          <p:nvPr/>
        </p:nvSpPr>
        <p:spPr>
          <a:xfrm>
            <a:off x="7498080" y="5349240"/>
            <a:ext cx="3824935" cy="274320"/>
          </a:xfrm>
          <a:prstGeom prst="rect">
            <a:avLst/>
          </a:prstGeom>
          <a:noFill/>
          <a:ln/>
        </p:spPr>
        <p:txBody>
          <a:bodyPr wrap="square" lIns="0" tIns="0" rIns="0" bIns="0" rtlCol="0" anchor="t"/>
          <a:lstStyle/>
          <a:p>
            <a:pPr indent="0" marL="0">
              <a:buNone/>
            </a:pPr>
            <a:r>
              <a:rPr lang="en-US" sz="1300" dirty="0">
                <a:solidFill>
                  <a:schemeClr val="tx2"/>
                </a:solidFill>
              </a:rPr>
              <a:t>Khung camera bị loại 25 % → 7 %</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4415" cy="2377440"/>
          </a:xfrm>
          <a:prstGeom prst="rect">
            <a:avLst/>
          </a:prstGeom>
          <a:noFill/>
          <a:ln/>
        </p:spPr>
        <p:txBody>
          <a:bodyPr wrap="square" lIns="0" tIns="0" rIns="0" bIns="0" rtlCol="0" anchor="ctr"/>
          <a:lstStyle/>
          <a:p>
            <a:pPr algn="l" indent="0" marL="0">
              <a:buNone/>
            </a:pPr>
            <a:r>
              <a:rPr lang="en-US" sz="3600" b="1" dirty="0">
                <a:solidFill>
                  <a:schemeClr val="bg1"/>
                </a:solidFill>
              </a:rPr>
              <a:t>Encoder biết bánh quay bao nhiêu, IMU biết xe xoay bao nhiêu, chỉ camera biết xe thật sự ở đâu.</a:t>
            </a:r>
            <a:endParaRPr lang="en-US" sz="3600" dirty="0"/>
          </a:p>
        </p:txBody>
      </p:sp>
      <p:sp>
        <p:nvSpPr>
          <p:cNvPr id="3" name="cham mau"/>
          <p:cNvSpPr/>
          <p:nvPr/>
        </p:nvSpPr>
        <p:spPr>
          <a:xfrm>
            <a:off x="548640" y="4160520"/>
            <a:ext cx="274320" cy="274320"/>
          </a:xfrm>
          <a:prstGeom prst="ellipse">
            <a:avLst/>
          </a:prstGeom>
          <a:solidFill>
            <a:srgbClr val="E07A45"/>
          </a:solidFill>
          <a:ln/>
        </p:spPr>
      </p:sp>
      <p:sp>
        <p:nvSpPr>
          <p:cNvPr id="4" name="Text 2"/>
          <p:cNvSpPr txBox="1"/>
          <p:nvPr/>
        </p:nvSpPr>
        <p:spPr>
          <a:xfrm>
            <a:off x="548640" y="4526280"/>
            <a:ext cx="3393338" cy="731520"/>
          </a:xfrm>
          <a:prstGeom prst="rect">
            <a:avLst/>
          </a:prstGeom>
          <a:noFill/>
          <a:ln/>
        </p:spPr>
        <p:txBody>
          <a:bodyPr wrap="square" lIns="0" tIns="0" rIns="0" bIns="0" rtlCol="0" anchor="t"/>
          <a:lstStyle/>
          <a:p>
            <a:pPr indent="0" marL="0">
              <a:buNone/>
            </a:pPr>
            <a:r>
              <a:rPr lang="en-US" sz="4000" b="1" dirty="0">
                <a:solidFill>
                  <a:schemeClr val="bg1"/>
                </a:solidFill>
              </a:rPr>
              <a:t>366 mm</a:t>
            </a:r>
            <a:endParaRPr lang="en-US" sz="4000" dirty="0"/>
          </a:p>
        </p:txBody>
      </p:sp>
      <p:sp>
        <p:nvSpPr>
          <p:cNvPr id="5" name="Text 3"/>
          <p:cNvSpPr txBox="1"/>
          <p:nvPr/>
        </p:nvSpPr>
        <p:spPr>
          <a:xfrm>
            <a:off x="548640" y="5303520"/>
            <a:ext cx="3393338" cy="640080"/>
          </a:xfrm>
          <a:prstGeom prst="rect">
            <a:avLst/>
          </a:prstGeom>
          <a:noFill/>
          <a:ln/>
        </p:spPr>
        <p:txBody>
          <a:bodyPr wrap="square" lIns="0" tIns="0" rIns="0" bIns="0" rtlCol="0" anchor="t"/>
          <a:lstStyle/>
          <a:p>
            <a:pPr indent="0" marL="0">
              <a:buNone/>
            </a:pPr>
            <a:r>
              <a:rPr lang="en-US" sz="1500" dirty="0">
                <a:solidFill>
                  <a:schemeClr val="accent6"/>
                </a:solidFill>
              </a:rPr>
              <a:t>thuần encoder</a:t>
            </a:r>
            <a:endParaRPr lang="en-US" sz="1500" dirty="0"/>
          </a:p>
        </p:txBody>
      </p:sp>
      <p:sp>
        <p:nvSpPr>
          <p:cNvPr id="6" name="cham mau"/>
          <p:cNvSpPr/>
          <p:nvPr/>
        </p:nvSpPr>
        <p:spPr>
          <a:xfrm>
            <a:off x="4399178" y="4160520"/>
            <a:ext cx="274320" cy="274320"/>
          </a:xfrm>
          <a:prstGeom prst="ellipse">
            <a:avLst/>
          </a:prstGeom>
          <a:solidFill>
            <a:srgbClr val="4D8FE0"/>
          </a:solidFill>
          <a:ln/>
        </p:spPr>
      </p:sp>
      <p:sp>
        <p:nvSpPr>
          <p:cNvPr id="7" name="Text 5"/>
          <p:cNvSpPr txBox="1"/>
          <p:nvPr/>
        </p:nvSpPr>
        <p:spPr>
          <a:xfrm>
            <a:off x="4399178" y="4526280"/>
            <a:ext cx="3393338" cy="731520"/>
          </a:xfrm>
          <a:prstGeom prst="rect">
            <a:avLst/>
          </a:prstGeom>
          <a:noFill/>
          <a:ln/>
        </p:spPr>
        <p:txBody>
          <a:bodyPr wrap="square" lIns="0" tIns="0" rIns="0" bIns="0" rtlCol="0" anchor="t"/>
          <a:lstStyle/>
          <a:p>
            <a:pPr indent="0" marL="0">
              <a:buNone/>
            </a:pPr>
            <a:r>
              <a:rPr lang="en-US" sz="4000" b="1" dirty="0">
                <a:solidFill>
                  <a:schemeClr val="bg1"/>
                </a:solidFill>
              </a:rPr>
              <a:t>66 mm</a:t>
            </a:r>
            <a:endParaRPr lang="en-US" sz="4000" dirty="0"/>
          </a:p>
        </p:txBody>
      </p:sp>
      <p:sp>
        <p:nvSpPr>
          <p:cNvPr id="8" name="Text 6"/>
          <p:cNvSpPr txBox="1"/>
          <p:nvPr/>
        </p:nvSpPr>
        <p:spPr>
          <a:xfrm>
            <a:off x="4399178" y="5303520"/>
            <a:ext cx="3393338" cy="640080"/>
          </a:xfrm>
          <a:prstGeom prst="rect">
            <a:avLst/>
          </a:prstGeom>
          <a:noFill/>
          <a:ln/>
        </p:spPr>
        <p:txBody>
          <a:bodyPr wrap="square" lIns="0" tIns="0" rIns="0" bIns="0" rtlCol="0" anchor="t"/>
          <a:lstStyle/>
          <a:p>
            <a:pPr indent="0" marL="0">
              <a:buNone/>
            </a:pPr>
            <a:r>
              <a:rPr lang="en-US" sz="1500" dirty="0">
                <a:solidFill>
                  <a:schemeClr val="accent6"/>
                </a:solidFill>
              </a:rPr>
              <a:t>encoder + IMU</a:t>
            </a:r>
            <a:endParaRPr lang="en-US" sz="1500" dirty="0"/>
          </a:p>
        </p:txBody>
      </p:sp>
      <p:sp>
        <p:nvSpPr>
          <p:cNvPr id="9" name="cham mau"/>
          <p:cNvSpPr/>
          <p:nvPr/>
        </p:nvSpPr>
        <p:spPr>
          <a:xfrm>
            <a:off x="8249717" y="4160520"/>
            <a:ext cx="274320" cy="274320"/>
          </a:xfrm>
          <a:prstGeom prst="ellipse">
            <a:avLst/>
          </a:prstGeom>
          <a:solidFill>
            <a:srgbClr val="2FB873"/>
          </a:solidFill>
          <a:ln/>
        </p:spPr>
      </p:sp>
      <p:sp>
        <p:nvSpPr>
          <p:cNvPr id="10" name="Text 8"/>
          <p:cNvSpPr txBox="1"/>
          <p:nvPr/>
        </p:nvSpPr>
        <p:spPr>
          <a:xfrm>
            <a:off x="8249717" y="4526280"/>
            <a:ext cx="3393338" cy="731520"/>
          </a:xfrm>
          <a:prstGeom prst="rect">
            <a:avLst/>
          </a:prstGeom>
          <a:noFill/>
          <a:ln/>
        </p:spPr>
        <p:txBody>
          <a:bodyPr wrap="square" lIns="0" tIns="0" rIns="0" bIns="0" rtlCol="0" anchor="t"/>
          <a:lstStyle/>
          <a:p>
            <a:pPr indent="0" marL="0">
              <a:buNone/>
            </a:pPr>
            <a:r>
              <a:rPr lang="en-US" sz="4000" b="1" dirty="0">
                <a:solidFill>
                  <a:schemeClr val="bg1"/>
                </a:solidFill>
              </a:rPr>
              <a:t>8 mm</a:t>
            </a:r>
            <a:endParaRPr lang="en-US" sz="4000" dirty="0"/>
          </a:p>
        </p:txBody>
      </p:sp>
      <p:sp>
        <p:nvSpPr>
          <p:cNvPr id="11" name="Text 9"/>
          <p:cNvSpPr txBox="1"/>
          <p:nvPr/>
        </p:nvSpPr>
        <p:spPr>
          <a:xfrm>
            <a:off x="8249717" y="5303520"/>
            <a:ext cx="3393338" cy="640080"/>
          </a:xfrm>
          <a:prstGeom prst="rect">
            <a:avLst/>
          </a:prstGeom>
          <a:noFill/>
          <a:ln/>
        </p:spPr>
        <p:txBody>
          <a:bodyPr wrap="square" lIns="0" tIns="0" rIns="0" bIns="0" rtlCol="0" anchor="t"/>
          <a:lstStyle/>
          <a:p>
            <a:pPr indent="0" marL="0">
              <a:buNone/>
            </a:pPr>
            <a:r>
              <a:rPr lang="en-US" sz="1500" dirty="0">
                <a:solidFill>
                  <a:schemeClr val="accent6"/>
                </a:solidFill>
              </a:rPr>
              <a:t>EKF + camera · vượt đích 30 mm sau sửa</a:t>
            </a:r>
            <a:endParaRPr lang="en-US" sz="1500" dirty="0"/>
          </a:p>
        </p:txBody>
      </p:sp>
      <p:sp>
        <p:nvSpPr>
          <p:cNvPr id="12" name="Text 10"/>
          <p:cNvSpPr txBox="1"/>
          <p:nvPr/>
        </p:nvSpPr>
        <p:spPr>
          <a:xfrm>
            <a:off x="548640" y="6172200"/>
            <a:ext cx="11094415" cy="274320"/>
          </a:xfrm>
          <a:prstGeom prst="rect">
            <a:avLst/>
          </a:prstGeom>
          <a:noFill/>
          <a:ln/>
        </p:spPr>
        <p:txBody>
          <a:bodyPr wrap="square" lIns="0" tIns="0" rIns="0" bIns="0" rtlCol="0" anchor="t"/>
          <a:lstStyle/>
          <a:p>
            <a:pPr indent="0" marL="0">
              <a:buNone/>
            </a:pPr>
            <a:r>
              <a:rPr lang="en-US" sz="1200" dirty="0">
                <a:solidFill>
                  <a:schemeClr val="accent5"/>
                </a:solidFill>
              </a:rPr>
              <a:t>Lệch ngang cuối trung bình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BƯỚC TIẾP · BÀI ZIGZAG</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Chạy ngang: thử trước khi làm zigzag</a:t>
            </a:r>
            <a:endParaRPr lang="en-US" sz="3000" dirty="0"/>
          </a:p>
        </p:txBody>
      </p:sp>
      <p:sp>
        <p:nvSpPr>
          <p:cNvPr id="4" name="khung strafe.png"/>
          <p:cNvSpPr/>
          <p:nvPr/>
        </p:nvSpPr>
        <p:spPr>
          <a:xfrm>
            <a:off x="548640" y="1463040"/>
            <a:ext cx="11094415" cy="3520440"/>
          </a:xfrm>
          <a:prstGeom prst="roundRect">
            <a:avLst>
              <a:gd name="adj" fmla="val 2078"/>
            </a:avLst>
          </a:prstGeom>
          <a:solidFill>
            <a:schemeClr val="bg2"/>
          </a:solidFill>
          <a:ln/>
        </p:spPr>
      </p:sp>
      <p:pic>
        <p:nvPicPr>
          <p:cNvPr id="5" name="strafe.png" descr="Chạy ngang 3 m thuần encoder: quỹ đạo ước lượng, góc IMU so với encoder và tốc độ từng bánh">    </p:cNvPr>
          <p:cNvPicPr>
            <a:picLocks noChangeAspect="1"/>
          </p:cNvPicPr>
          <p:nvPr/>
        </p:nvPicPr>
        <p:blipFill>
          <a:blip r:embed="rId1"/>
          <a:stretch>
            <a:fillRect/>
          </a:stretch>
        </p:blipFill>
        <p:spPr>
          <a:xfrm>
            <a:off x="1721789" y="1463040"/>
            <a:ext cx="8748117" cy="3520440"/>
          </a:xfrm>
          <a:prstGeom prst="rect">
            <a:avLst/>
          </a:prstGeom>
        </p:spPr>
      </p:pic>
      <p:sp>
        <p:nvSpPr>
          <p:cNvPr id="6" name="cham mau"/>
          <p:cNvSpPr/>
          <p:nvPr/>
        </p:nvSpPr>
        <p:spPr>
          <a:xfrm>
            <a:off x="548640" y="5212080"/>
            <a:ext cx="292608" cy="292608"/>
          </a:xfrm>
          <a:prstGeom prst="ellipse">
            <a:avLst/>
          </a:prstGeom>
          <a:solidFill>
            <a:schemeClr val="accent2"/>
          </a:solidFill>
          <a:ln/>
        </p:spPr>
      </p:sp>
      <p:sp>
        <p:nvSpPr>
          <p:cNvPr id="7" name="Text 4"/>
          <p:cNvSpPr txBox="1"/>
          <p:nvPr/>
        </p:nvSpPr>
        <p:spPr>
          <a:xfrm>
            <a:off x="548640" y="5212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960120" y="5166360"/>
            <a:ext cx="3073298" cy="1143000"/>
          </a:xfrm>
          <a:prstGeom prst="rect">
            <a:avLst/>
          </a:prstGeom>
          <a:noFill/>
          <a:ln/>
        </p:spPr>
        <p:txBody>
          <a:bodyPr wrap="square" lIns="0" tIns="0" rIns="0" bIns="0" rtlCol="0" anchor="t"/>
          <a:lstStyle/>
          <a:p>
            <a:pPr indent="0" marL="0">
              <a:buNone/>
            </a:pPr>
            <a:r>
              <a:rPr lang="en-US" sz="1500" dirty="0">
                <a:solidFill>
                  <a:schemeClr val="tx1"/>
                </a:solidFill>
              </a:rPr>
              <a:t>Chạy ngang 3 m thuần encoder (20/10): xe </a:t>
            </a:r>
            <a:pPr indent="0" marL="0">
              <a:buNone/>
            </a:pPr>
            <a:r>
              <a:rPr lang="en-US" sz="1500" b="1" dirty="0">
                <a:solidFill>
                  <a:schemeClr val="tx1"/>
                </a:solidFill>
              </a:rPr>
              <a:t>trôi chéo</a:t>
            </a:r>
            <a:pPr indent="0" marL="0">
              <a:buNone/>
            </a:pPr>
            <a:r>
              <a:rPr lang="en-US" sz="1500" dirty="0">
                <a:solidFill>
                  <a:schemeClr val="tx1"/>
                </a:solidFill>
              </a:rPr>
              <a:t> rồi đâm vào đồ; encoder vẫn báo đi ngang thẳng.</a:t>
            </a:r>
            <a:endParaRPr lang="en-US" sz="1500" dirty="0"/>
          </a:p>
        </p:txBody>
      </p:sp>
      <p:sp>
        <p:nvSpPr>
          <p:cNvPr id="9" name="cham mau"/>
          <p:cNvSpPr/>
          <p:nvPr/>
        </p:nvSpPr>
        <p:spPr>
          <a:xfrm>
            <a:off x="4353458" y="5212080"/>
            <a:ext cx="292608" cy="292608"/>
          </a:xfrm>
          <a:prstGeom prst="ellipse">
            <a:avLst/>
          </a:prstGeom>
          <a:solidFill>
            <a:schemeClr val="accent2"/>
          </a:solidFill>
          <a:ln/>
        </p:spPr>
      </p:sp>
      <p:sp>
        <p:nvSpPr>
          <p:cNvPr id="10" name="Text 7"/>
          <p:cNvSpPr txBox="1"/>
          <p:nvPr/>
        </p:nvSpPr>
        <p:spPr>
          <a:xfrm>
            <a:off x="4353458" y="5212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8"/>
          <p:cNvSpPr txBox="1"/>
          <p:nvPr/>
        </p:nvSpPr>
        <p:spPr>
          <a:xfrm>
            <a:off x="4764938" y="5166360"/>
            <a:ext cx="3073298" cy="1143000"/>
          </a:xfrm>
          <a:prstGeom prst="rect">
            <a:avLst/>
          </a:prstGeom>
          <a:noFill/>
          <a:ln/>
        </p:spPr>
        <p:txBody>
          <a:bodyPr wrap="square" lIns="0" tIns="0" rIns="0" bIns="0" rtlCol="0" anchor="t"/>
          <a:lstStyle/>
          <a:p>
            <a:pPr indent="0" marL="0">
              <a:buNone/>
            </a:pPr>
            <a:r>
              <a:rPr lang="en-US" sz="1500" dirty="0">
                <a:solidFill>
                  <a:schemeClr val="tx1"/>
                </a:solidFill>
              </a:rPr>
              <a:t>Giữ hướng bằng IMU chỉ chống được xoay, không thấy được </a:t>
            </a:r>
            <a:pPr indent="0" marL="0">
              <a:buNone/>
            </a:pPr>
            <a:r>
              <a:rPr lang="en-US" sz="1500" b="1" dirty="0">
                <a:solidFill>
                  <a:schemeClr val="tx1"/>
                </a:solidFill>
              </a:rPr>
              <a:t>tịnh tiến chéo</a:t>
            </a:r>
            <a:pPr indent="0" marL="0">
              <a:buNone/>
            </a:pPr>
            <a:r>
              <a:rPr lang="en-US" sz="1500" dirty="0">
                <a:solidFill>
                  <a:schemeClr val="tx1"/>
                </a:solidFill>
              </a:rPr>
              <a:t>.</a:t>
            </a:r>
            <a:endParaRPr lang="en-US" sz="1500" dirty="0"/>
          </a:p>
        </p:txBody>
      </p:sp>
      <p:sp>
        <p:nvSpPr>
          <p:cNvPr id="12" name="cham mau"/>
          <p:cNvSpPr/>
          <p:nvPr/>
        </p:nvSpPr>
        <p:spPr>
          <a:xfrm>
            <a:off x="8158277" y="5212080"/>
            <a:ext cx="292608" cy="292608"/>
          </a:xfrm>
          <a:prstGeom prst="ellipse">
            <a:avLst/>
          </a:prstGeom>
          <a:solidFill>
            <a:schemeClr val="accent2"/>
          </a:solidFill>
          <a:ln/>
        </p:spPr>
      </p:sp>
      <p:sp>
        <p:nvSpPr>
          <p:cNvPr id="13" name="Text 10"/>
          <p:cNvSpPr txBox="1"/>
          <p:nvPr/>
        </p:nvSpPr>
        <p:spPr>
          <a:xfrm>
            <a:off x="8158277" y="5212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Text 11"/>
          <p:cNvSpPr txBox="1"/>
          <p:nvPr/>
        </p:nvSpPr>
        <p:spPr>
          <a:xfrm>
            <a:off x="8569757" y="5166360"/>
            <a:ext cx="3073298" cy="1143000"/>
          </a:xfrm>
          <a:prstGeom prst="rect">
            <a:avLst/>
          </a:prstGeom>
          <a:noFill/>
          <a:ln/>
        </p:spPr>
        <p:txBody>
          <a:bodyPr wrap="square" lIns="0" tIns="0" rIns="0" bIns="0" rtlCol="0" anchor="t"/>
          <a:lstStyle/>
          <a:p>
            <a:pPr indent="0" marL="0">
              <a:buNone/>
            </a:pPr>
            <a:r>
              <a:rPr lang="en-US" sz="1500" dirty="0">
                <a:solidFill>
                  <a:schemeClr val="tx1"/>
                </a:solidFill>
              </a:rPr>
              <a:t>Việc tiếp: kiểm tra khung vênh và con lăn; đoạn ngang trong zigzag cần </a:t>
            </a:r>
            <a:pPr indent="0" marL="0">
              <a:buNone/>
            </a:pPr>
            <a:r>
              <a:rPr lang="en-US" sz="1500" b="1" dirty="0">
                <a:solidFill>
                  <a:schemeClr val="tx1"/>
                </a:solidFill>
              </a:rPr>
              <a:t>camera / EKF</a:t>
            </a:r>
            <a:pPr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WMR">
  <a:themeElements>
    <a:clrScheme name="FWMR">
      <a:dk1>
        <a:srgbClr val="14213D"/>
      </a:dk1>
      <a:lt1>
        <a:srgbClr val="FFFFFF"/>
      </a:lt1>
      <a:dk2>
        <a:srgbClr val="4A5568"/>
      </a:dk2>
      <a:lt2>
        <a:srgbClr val="F1F3F6"/>
      </a:lt2>
      <a:accent1>
        <a:srgbClr val="D9622B"/>
      </a:accent1>
      <a:accent2>
        <a:srgbClr val="2A6FC9"/>
      </a:accent2>
      <a:accent3>
        <a:srgbClr val="0E8A4F"/>
      </a:accent3>
      <a:accent4>
        <a:srgbClr val="B84E1C"/>
      </a:accent4>
      <a:accent5>
        <a:srgbClr val="9FB3C8"/>
      </a:accent5>
      <a:accent6>
        <a:srgbClr val="C9D6E3"/>
      </a:accent6>
      <a:hlink>
        <a:srgbClr val="2A6FC9"/>
      </a:hlink>
      <a:folHlink>
        <a:srgbClr val="4A5568"/>
      </a:folHlink>
    </a:clrScheme>
    <a:fontScheme name="FWM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FWMR – 3 bài chạy thẳng 3 m</dc:title>
  <dc:subject>PptxGenJS Presentation</dc:subject>
  <dc:creator>Quang Minh</dc:creator>
  <cp:lastModifiedBy>Quang Minh</cp:lastModifiedBy>
  <cp:revision>1</cp:revision>
  <dcterms:created xsi:type="dcterms:W3CDTF">2026-10-20T08:13:48Z</dcterms:created>
  <dcterms:modified xsi:type="dcterms:W3CDTF">2026-10-20T08:13:48Z</dcterms:modified>
</cp:coreProperties>
</file>